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C4A04A"/>
          </a:solidFill>
          <a:ln w="12700">
            <a:solidFill>
              <a:srgbClr val="C4A04A"/>
            </a:solidFill>
            <a:prstDash val="solid"/>
          </a:ln>
        </p:spPr>
      </p:sp>
      <p:pic>
        <p:nvPicPr>
          <p:cNvPr id="3" name="Image 0" descr="preencoded.png">    </p:cNvPr>
          <p:cNvPicPr>
            <a:picLocks noChangeAspect="1"/>
          </p:cNvPicPr>
          <p:nvPr/>
        </p:nvPicPr>
        <p:blipFill>
          <a:blip r:embed="rId1"/>
          <a:stretch>
            <a:fillRect/>
          </a:stretch>
        </p:blipFill>
        <p:spPr>
          <a:xfrm>
            <a:off x="3899916" y="256032"/>
            <a:ext cx="4389120" cy="1371600"/>
          </a:xfrm>
          <a:prstGeom prst="rect">
            <a:avLst/>
          </a:prstGeom>
        </p:spPr>
      </p:pic>
      <p:sp>
        <p:nvSpPr>
          <p:cNvPr id="4" name="Shape 1"/>
          <p:cNvSpPr/>
          <p:nvPr/>
        </p:nvSpPr>
        <p:spPr>
          <a:xfrm>
            <a:off x="4494276" y="1874520"/>
            <a:ext cx="3200400" cy="27432"/>
          </a:xfrm>
          <a:prstGeom prst="rect">
            <a:avLst/>
          </a:prstGeom>
          <a:solidFill>
            <a:srgbClr val="C4A04A"/>
          </a:solidFill>
          <a:ln w="12700">
            <a:solidFill>
              <a:srgbClr val="C4A04A"/>
            </a:solidFill>
            <a:prstDash val="solid"/>
          </a:ln>
        </p:spPr>
      </p:sp>
      <p:sp>
        <p:nvSpPr>
          <p:cNvPr id="5" name="Text 2"/>
          <p:cNvSpPr/>
          <p:nvPr/>
        </p:nvSpPr>
        <p:spPr>
          <a:xfrm>
            <a:off x="914400" y="1965960"/>
            <a:ext cx="10360152" cy="1280160"/>
          </a:xfrm>
          <a:prstGeom prst="rect">
            <a:avLst/>
          </a:prstGeom>
          <a:noFill/>
          <a:ln/>
        </p:spPr>
        <p:txBody>
          <a:bodyPr wrap="square" rtlCol="0" anchor="ctr"/>
          <a:lstStyle/>
          <a:p>
            <a:pPr algn="ctr" indent="0" marL="0">
              <a:buNone/>
            </a:pPr>
            <a:r>
              <a:rPr lang="en-US" sz="2600" b="1" dirty="0">
                <a:solidFill>
                  <a:srgbClr val="FAFAF6"/>
                </a:solidFill>
                <a:latin typeface="Georgia" pitchFamily="34" charset="0"/>
                <a:ea typeface="Georgia" pitchFamily="34" charset="-122"/>
                <a:cs typeface="Georgia" pitchFamily="34" charset="-120"/>
              </a:rPr>
              <a:t>Investment Committee</a:t>
            </a:r>
            <a:endParaRPr lang="en-US" sz="2600" dirty="0"/>
          </a:p>
          <a:p>
            <a:pPr algn="ctr" indent="0" marL="0">
              <a:buNone/>
            </a:pPr>
            <a:r>
              <a:rPr lang="en-US" sz="2600" b="1" dirty="0">
                <a:solidFill>
                  <a:srgbClr val="FAFAF6"/>
                </a:solidFill>
                <a:latin typeface="Georgia" pitchFamily="34" charset="0"/>
                <a:ea typeface="Georgia" pitchFamily="34" charset="-122"/>
                <a:cs typeface="Georgia" pitchFamily="34" charset="-120"/>
              </a:rPr>
              <a:t>Credit Appraisal Note</a:t>
            </a:r>
            <a:endParaRPr lang="en-US" sz="2600" dirty="0"/>
          </a:p>
        </p:txBody>
      </p:sp>
      <p:sp>
        <p:nvSpPr>
          <p:cNvPr id="6" name="Text 3"/>
          <p:cNvSpPr/>
          <p:nvPr/>
        </p:nvSpPr>
        <p:spPr>
          <a:xfrm>
            <a:off x="457200" y="3383280"/>
            <a:ext cx="11274552" cy="914400"/>
          </a:xfrm>
          <a:prstGeom prst="rect">
            <a:avLst/>
          </a:prstGeom>
          <a:noFill/>
          <a:ln/>
        </p:spPr>
        <p:txBody>
          <a:bodyPr wrap="square" rtlCol="0" anchor="ctr"/>
          <a:lstStyle/>
          <a:p>
            <a:pPr algn="ctr" indent="0" marL="0">
              <a:buNone/>
            </a:pPr>
            <a:r>
              <a:rPr lang="en-US" sz="3200" b="1" dirty="0">
                <a:solidFill>
                  <a:srgbClr val="FAFAF6"/>
                </a:solidFill>
                <a:latin typeface="Georgia" pitchFamily="34" charset="0"/>
                <a:ea typeface="Georgia" pitchFamily="34" charset="-122"/>
                <a:cs typeface="Georgia" pitchFamily="34" charset="-120"/>
              </a:rPr>
              <a:t>AG Energy Private Limited</a:t>
            </a:r>
            <a:endParaRPr lang="en-US" sz="3200" dirty="0"/>
          </a:p>
        </p:txBody>
      </p:sp>
      <p:sp>
        <p:nvSpPr>
          <p:cNvPr id="7" name="Text 4"/>
          <p:cNvSpPr/>
          <p:nvPr/>
        </p:nvSpPr>
        <p:spPr>
          <a:xfrm>
            <a:off x="457200" y="4434840"/>
            <a:ext cx="11274552" cy="384048"/>
          </a:xfrm>
          <a:prstGeom prst="rect">
            <a:avLst/>
          </a:prstGeom>
          <a:noFill/>
          <a:ln/>
        </p:spPr>
        <p:txBody>
          <a:bodyPr wrap="square" rtlCol="0" anchor="ctr"/>
          <a:lstStyle/>
          <a:p>
            <a:pPr algn="ctr" indent="0" marL="0">
              <a:buNone/>
            </a:pPr>
            <a:r>
              <a:rPr lang="en-US" sz="1150" dirty="0">
                <a:solidFill>
                  <a:srgbClr val="C4A04A"/>
                </a:solidFill>
                <a:latin typeface="Georgia" pitchFamily="34" charset="0"/>
                <a:ea typeface="Georgia" pitchFamily="34" charset="-122"/>
                <a:cs typeface="Georgia" pitchFamily="34" charset="-120"/>
              </a:rPr>
              <a:t>RH-MQTUWV0Z  ·  OPERATING LEASE  ·  ₹6 Cr  ·  98M  ·  16% IRR</a:t>
            </a:r>
            <a:endParaRPr lang="en-US" sz="1150" dirty="0"/>
          </a:p>
        </p:txBody>
      </p:sp>
      <p:sp>
        <p:nvSpPr>
          <p:cNvPr id="8" name="Text 5"/>
          <p:cNvSpPr/>
          <p:nvPr/>
        </p:nvSpPr>
        <p:spPr>
          <a:xfrm>
            <a:off x="0" y="6236208"/>
            <a:ext cx="12188952" cy="274320"/>
          </a:xfrm>
          <a:prstGeom prst="rect">
            <a:avLst/>
          </a:prstGeom>
          <a:noFill/>
          <a:ln/>
        </p:spPr>
        <p:txBody>
          <a:bodyPr wrap="square" rtlCol="0" anchor="ctr"/>
          <a:lstStyle/>
          <a:p>
            <a:pPr algn="ctr" indent="0" marL="0">
              <a:buNone/>
            </a:pPr>
            <a:r>
              <a:rPr lang="en-US" sz="950" dirty="0">
                <a:solidFill>
                  <a:srgbClr val="FAFAF6">
                    <a:alpha val="60000"/>
                  </a:srgbClr>
                </a:solidFill>
                <a:latin typeface="Calibri" pitchFamily="34" charset="0"/>
                <a:ea typeface="Calibri" pitchFamily="34" charset="-122"/>
                <a:cs typeface="Calibri" pitchFamily="34" charset="-120"/>
              </a:rPr>
              <a:t>26 June 2026</a:t>
            </a:r>
            <a:endParaRPr lang="en-US" sz="950" dirty="0"/>
          </a:p>
        </p:txBody>
      </p:sp>
      <p:sp>
        <p:nvSpPr>
          <p:cNvPr id="9" name="Shape 6"/>
          <p:cNvSpPr/>
          <p:nvPr/>
        </p:nvSpPr>
        <p:spPr>
          <a:xfrm>
            <a:off x="0" y="6547104"/>
            <a:ext cx="12188952" cy="310896"/>
          </a:xfrm>
          <a:prstGeom prst="rect">
            <a:avLst/>
          </a:prstGeom>
          <a:solidFill>
            <a:srgbClr val="8B6914"/>
          </a:solidFill>
          <a:ln w="12700">
            <a:solidFill>
              <a:srgbClr val="8B6914"/>
            </a:solidFill>
            <a:prstDash val="solid"/>
          </a:ln>
        </p:spPr>
      </p:sp>
      <p:sp>
        <p:nvSpPr>
          <p:cNvPr id="10" name="Text 7"/>
          <p:cNvSpPr/>
          <p:nvPr/>
        </p:nvSpPr>
        <p:spPr>
          <a:xfrm>
            <a:off x="0" y="6574536"/>
            <a:ext cx="12188952" cy="265176"/>
          </a:xfrm>
          <a:prstGeom prst="rect">
            <a:avLst/>
          </a:prstGeom>
          <a:noFill/>
          <a:ln/>
        </p:spPr>
        <p:txBody>
          <a:bodyPr wrap="square" rtlCol="0" anchor="ctr"/>
          <a:lstStyle/>
          <a:p>
            <a:pPr algn="ctr" indent="0" marL="0">
              <a:buNone/>
            </a:pPr>
            <a:r>
              <a:rPr lang="en-US" sz="750" spc="150" kern="0" dirty="0">
                <a:solidFill>
                  <a:srgbClr val="FAFAF6"/>
                </a:solidFill>
                <a:latin typeface="Calibri" pitchFamily="34" charset="0"/>
                <a:ea typeface="Calibri" pitchFamily="34" charset="-122"/>
                <a:cs typeface="Calibri" pitchFamily="34" charset="-120"/>
              </a:rPr>
              <a:t>STRICTLY CONFIDENTIAL  ·  INVESTMENT COMMITTEE USE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Investment Committee Credit Appraisal Note</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Table of Contents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216152"/>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I</a:t>
            </a:r>
            <a:endParaRPr lang="en-US" sz="900" dirty="0"/>
          </a:p>
        </p:txBody>
      </p:sp>
      <p:sp>
        <p:nvSpPr>
          <p:cNvPr id="8" name="Text 5"/>
          <p:cNvSpPr/>
          <p:nvPr/>
        </p:nvSpPr>
        <p:spPr>
          <a:xfrm>
            <a:off x="905256" y="1216152"/>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EXECUTIVE SUMMARY</a:t>
            </a:r>
            <a:endParaRPr lang="en-US" sz="900" dirty="0"/>
          </a:p>
        </p:txBody>
      </p:sp>
      <p:sp>
        <p:nvSpPr>
          <p:cNvPr id="9" name="Text 6"/>
          <p:cNvSpPr/>
          <p:nvPr/>
        </p:nvSpPr>
        <p:spPr>
          <a:xfrm>
            <a:off x="5330952" y="1216152"/>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10" name="Text 7"/>
          <p:cNvSpPr/>
          <p:nvPr/>
        </p:nvSpPr>
        <p:spPr>
          <a:xfrm>
            <a:off x="411480" y="1618488"/>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II</a:t>
            </a:r>
            <a:endParaRPr lang="en-US" sz="900" dirty="0"/>
          </a:p>
        </p:txBody>
      </p:sp>
      <p:sp>
        <p:nvSpPr>
          <p:cNvPr id="11" name="Text 8"/>
          <p:cNvSpPr/>
          <p:nvPr/>
        </p:nvSpPr>
        <p:spPr>
          <a:xfrm>
            <a:off x="905256" y="1618488"/>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CLIENT &amp; PROMOTER PROFILE</a:t>
            </a:r>
            <a:endParaRPr lang="en-US" sz="900" dirty="0"/>
          </a:p>
        </p:txBody>
      </p:sp>
      <p:sp>
        <p:nvSpPr>
          <p:cNvPr id="12" name="Text 9"/>
          <p:cNvSpPr/>
          <p:nvPr/>
        </p:nvSpPr>
        <p:spPr>
          <a:xfrm>
            <a:off x="5330952" y="1618488"/>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13" name="Text 10"/>
          <p:cNvSpPr/>
          <p:nvPr/>
        </p:nvSpPr>
        <p:spPr>
          <a:xfrm>
            <a:off x="411480" y="2020824"/>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III</a:t>
            </a:r>
            <a:endParaRPr lang="en-US" sz="900" dirty="0"/>
          </a:p>
        </p:txBody>
      </p:sp>
      <p:sp>
        <p:nvSpPr>
          <p:cNvPr id="14" name="Text 11"/>
          <p:cNvSpPr/>
          <p:nvPr/>
        </p:nvSpPr>
        <p:spPr>
          <a:xfrm>
            <a:off x="905256" y="2020824"/>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PROPOSED INVESTMENT STRUCTURE</a:t>
            </a:r>
            <a:endParaRPr lang="en-US" sz="900" dirty="0"/>
          </a:p>
        </p:txBody>
      </p:sp>
      <p:sp>
        <p:nvSpPr>
          <p:cNvPr id="15" name="Text 12"/>
          <p:cNvSpPr/>
          <p:nvPr/>
        </p:nvSpPr>
        <p:spPr>
          <a:xfrm>
            <a:off x="5330952" y="2020824"/>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16" name="Text 13"/>
          <p:cNvSpPr/>
          <p:nvPr/>
        </p:nvSpPr>
        <p:spPr>
          <a:xfrm>
            <a:off x="411480" y="2423160"/>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IV</a:t>
            </a:r>
            <a:endParaRPr lang="en-US" sz="900" dirty="0"/>
          </a:p>
        </p:txBody>
      </p:sp>
      <p:sp>
        <p:nvSpPr>
          <p:cNvPr id="17" name="Text 14"/>
          <p:cNvSpPr/>
          <p:nvPr/>
        </p:nvSpPr>
        <p:spPr>
          <a:xfrm>
            <a:off x="905256" y="2423160"/>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REHBAR FUNDING HISTORY</a:t>
            </a:r>
            <a:endParaRPr lang="en-US" sz="900" dirty="0"/>
          </a:p>
        </p:txBody>
      </p:sp>
      <p:sp>
        <p:nvSpPr>
          <p:cNvPr id="18" name="Text 15"/>
          <p:cNvSpPr/>
          <p:nvPr/>
        </p:nvSpPr>
        <p:spPr>
          <a:xfrm>
            <a:off x="5330952" y="2423160"/>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19" name="Text 16"/>
          <p:cNvSpPr/>
          <p:nvPr/>
        </p:nvSpPr>
        <p:spPr>
          <a:xfrm>
            <a:off x="411480" y="2825496"/>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V</a:t>
            </a:r>
            <a:endParaRPr lang="en-US" sz="900" dirty="0"/>
          </a:p>
        </p:txBody>
      </p:sp>
      <p:sp>
        <p:nvSpPr>
          <p:cNvPr id="20" name="Text 17"/>
          <p:cNvSpPr/>
          <p:nvPr/>
        </p:nvSpPr>
        <p:spPr>
          <a:xfrm>
            <a:off x="905256" y="2825496"/>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HISTORICAL FINANCIAL ANALYSIS (3Y)</a:t>
            </a:r>
            <a:endParaRPr lang="en-US" sz="900" dirty="0"/>
          </a:p>
        </p:txBody>
      </p:sp>
      <p:sp>
        <p:nvSpPr>
          <p:cNvPr id="21" name="Text 18"/>
          <p:cNvSpPr/>
          <p:nvPr/>
        </p:nvSpPr>
        <p:spPr>
          <a:xfrm>
            <a:off x="5330952" y="2825496"/>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22" name="Text 19"/>
          <p:cNvSpPr/>
          <p:nvPr/>
        </p:nvSpPr>
        <p:spPr>
          <a:xfrm>
            <a:off x="411480" y="3227832"/>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VI</a:t>
            </a:r>
            <a:endParaRPr lang="en-US" sz="900" dirty="0"/>
          </a:p>
        </p:txBody>
      </p:sp>
      <p:sp>
        <p:nvSpPr>
          <p:cNvPr id="23" name="Text 20"/>
          <p:cNvSpPr/>
          <p:nvPr/>
        </p:nvSpPr>
        <p:spPr>
          <a:xfrm>
            <a:off x="905256" y="3227832"/>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PROJECTIONS &amp; ESTIMATES</a:t>
            </a:r>
            <a:endParaRPr lang="en-US" sz="900" dirty="0"/>
          </a:p>
        </p:txBody>
      </p:sp>
      <p:sp>
        <p:nvSpPr>
          <p:cNvPr id="24" name="Text 21"/>
          <p:cNvSpPr/>
          <p:nvPr/>
        </p:nvSpPr>
        <p:spPr>
          <a:xfrm>
            <a:off x="5330952" y="3227832"/>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25" name="Text 22"/>
          <p:cNvSpPr/>
          <p:nvPr/>
        </p:nvSpPr>
        <p:spPr>
          <a:xfrm>
            <a:off x="411480" y="3630168"/>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VII</a:t>
            </a:r>
            <a:endParaRPr lang="en-US" sz="900" dirty="0"/>
          </a:p>
        </p:txBody>
      </p:sp>
      <p:sp>
        <p:nvSpPr>
          <p:cNvPr id="26" name="Text 23"/>
          <p:cNvSpPr/>
          <p:nvPr/>
        </p:nvSpPr>
        <p:spPr>
          <a:xfrm>
            <a:off x="905256" y="3630168"/>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KEY FINANCIAL RATIOS</a:t>
            </a:r>
            <a:endParaRPr lang="en-US" sz="900" dirty="0"/>
          </a:p>
        </p:txBody>
      </p:sp>
      <p:sp>
        <p:nvSpPr>
          <p:cNvPr id="27" name="Text 24"/>
          <p:cNvSpPr/>
          <p:nvPr/>
        </p:nvSpPr>
        <p:spPr>
          <a:xfrm>
            <a:off x="5330952" y="3630168"/>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28" name="Text 25"/>
          <p:cNvSpPr/>
          <p:nvPr/>
        </p:nvSpPr>
        <p:spPr>
          <a:xfrm>
            <a:off x="6231636" y="1216152"/>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VIII</a:t>
            </a:r>
            <a:endParaRPr lang="en-US" sz="900" dirty="0"/>
          </a:p>
        </p:txBody>
      </p:sp>
      <p:sp>
        <p:nvSpPr>
          <p:cNvPr id="29" name="Text 26"/>
          <p:cNvSpPr/>
          <p:nvPr/>
        </p:nvSpPr>
        <p:spPr>
          <a:xfrm>
            <a:off x="6725412" y="1216152"/>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CASH FLOW STATEMENT</a:t>
            </a:r>
            <a:endParaRPr lang="en-US" sz="900" dirty="0"/>
          </a:p>
        </p:txBody>
      </p:sp>
      <p:sp>
        <p:nvSpPr>
          <p:cNvPr id="30" name="Text 27"/>
          <p:cNvSpPr/>
          <p:nvPr/>
        </p:nvSpPr>
        <p:spPr>
          <a:xfrm>
            <a:off x="11151108" y="1216152"/>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31" name="Text 28"/>
          <p:cNvSpPr/>
          <p:nvPr/>
        </p:nvSpPr>
        <p:spPr>
          <a:xfrm>
            <a:off x="6231636" y="1618488"/>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IX</a:t>
            </a:r>
            <a:endParaRPr lang="en-US" sz="900" dirty="0"/>
          </a:p>
        </p:txBody>
      </p:sp>
      <p:sp>
        <p:nvSpPr>
          <p:cNvPr id="32" name="Text 29"/>
          <p:cNvSpPr/>
          <p:nvPr/>
        </p:nvSpPr>
        <p:spPr>
          <a:xfrm>
            <a:off x="6725412" y="1618488"/>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DUE DILIGENCE EXCERPTS</a:t>
            </a:r>
            <a:endParaRPr lang="en-US" sz="900" dirty="0"/>
          </a:p>
        </p:txBody>
      </p:sp>
      <p:sp>
        <p:nvSpPr>
          <p:cNvPr id="33" name="Text 30"/>
          <p:cNvSpPr/>
          <p:nvPr/>
        </p:nvSpPr>
        <p:spPr>
          <a:xfrm>
            <a:off x="11151108" y="1618488"/>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34" name="Text 31"/>
          <p:cNvSpPr/>
          <p:nvPr/>
        </p:nvSpPr>
        <p:spPr>
          <a:xfrm>
            <a:off x="6231636" y="2020824"/>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X</a:t>
            </a:r>
            <a:endParaRPr lang="en-US" sz="900" dirty="0"/>
          </a:p>
        </p:txBody>
      </p:sp>
      <p:sp>
        <p:nvSpPr>
          <p:cNvPr id="35" name="Text 32"/>
          <p:cNvSpPr/>
          <p:nvPr/>
        </p:nvSpPr>
        <p:spPr>
          <a:xfrm>
            <a:off x="6725412" y="2020824"/>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RISK ASSESSMENT &amp; MITIGATION</a:t>
            </a:r>
            <a:endParaRPr lang="en-US" sz="900" dirty="0"/>
          </a:p>
        </p:txBody>
      </p:sp>
      <p:sp>
        <p:nvSpPr>
          <p:cNvPr id="36" name="Text 33"/>
          <p:cNvSpPr/>
          <p:nvPr/>
        </p:nvSpPr>
        <p:spPr>
          <a:xfrm>
            <a:off x="11151108" y="2020824"/>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37" name="Text 34"/>
          <p:cNvSpPr/>
          <p:nvPr/>
        </p:nvSpPr>
        <p:spPr>
          <a:xfrm>
            <a:off x="6231636" y="2423160"/>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XI</a:t>
            </a:r>
            <a:endParaRPr lang="en-US" sz="900" dirty="0"/>
          </a:p>
        </p:txBody>
      </p:sp>
      <p:sp>
        <p:nvSpPr>
          <p:cNvPr id="38" name="Text 35"/>
          <p:cNvSpPr/>
          <p:nvPr/>
        </p:nvSpPr>
        <p:spPr>
          <a:xfrm>
            <a:off x="6725412" y="2423160"/>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VISIT REPORT &amp; EXEC RECOMMENDATION</a:t>
            </a:r>
            <a:endParaRPr lang="en-US" sz="900" dirty="0"/>
          </a:p>
        </p:txBody>
      </p:sp>
      <p:sp>
        <p:nvSpPr>
          <p:cNvPr id="39" name="Text 36"/>
          <p:cNvSpPr/>
          <p:nvPr/>
        </p:nvSpPr>
        <p:spPr>
          <a:xfrm>
            <a:off x="11151108" y="2423160"/>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40" name="Text 37"/>
          <p:cNvSpPr/>
          <p:nvPr/>
        </p:nvSpPr>
        <p:spPr>
          <a:xfrm>
            <a:off x="6231636" y="2825496"/>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XII</a:t>
            </a:r>
            <a:endParaRPr lang="en-US" sz="900" dirty="0"/>
          </a:p>
        </p:txBody>
      </p:sp>
      <p:sp>
        <p:nvSpPr>
          <p:cNvPr id="41" name="Text 38"/>
          <p:cNvSpPr/>
          <p:nvPr/>
        </p:nvSpPr>
        <p:spPr>
          <a:xfrm>
            <a:off x="6725412" y="2825496"/>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SPECIFIC PRODUCT REQUIREMENTS &amp; EXEMPTIONS</a:t>
            </a:r>
            <a:endParaRPr lang="en-US" sz="900" dirty="0"/>
          </a:p>
        </p:txBody>
      </p:sp>
      <p:sp>
        <p:nvSpPr>
          <p:cNvPr id="42" name="Text 39"/>
          <p:cNvSpPr/>
          <p:nvPr/>
        </p:nvSpPr>
        <p:spPr>
          <a:xfrm>
            <a:off x="11151108" y="2825496"/>
            <a:ext cx="274320" cy="347472"/>
          </a:xfrm>
          <a:prstGeom prst="rect">
            <a:avLst/>
          </a:prstGeom>
          <a:noFill/>
          <a:ln/>
        </p:spPr>
        <p:txBody>
          <a:bodyPr wrap="square" rtlCol="0" anchor="ctr"/>
          <a:lstStyle/>
          <a:p>
            <a:pPr indent="0" marL="0">
              <a:buNone/>
            </a:pPr>
            <a:r>
              <a:rPr lang="en-US" sz="1000" dirty="0">
                <a:solidFill>
                  <a:srgbClr val="16A34A"/>
                </a:solidFill>
                <a:latin typeface="Calibri" pitchFamily="34" charset="0"/>
                <a:ea typeface="Calibri" pitchFamily="34" charset="-122"/>
                <a:cs typeface="Calibri" pitchFamily="34" charset="-120"/>
              </a:rPr>
              <a:t>●</a:t>
            </a:r>
            <a:endParaRPr lang="en-US" sz="1000" dirty="0"/>
          </a:p>
        </p:txBody>
      </p:sp>
      <p:sp>
        <p:nvSpPr>
          <p:cNvPr id="43" name="Text 40"/>
          <p:cNvSpPr/>
          <p:nvPr/>
        </p:nvSpPr>
        <p:spPr>
          <a:xfrm>
            <a:off x="6231636" y="3227832"/>
            <a:ext cx="475488" cy="347472"/>
          </a:xfrm>
          <a:prstGeom prst="rect">
            <a:avLst/>
          </a:prstGeom>
          <a:noFill/>
          <a:ln/>
        </p:spPr>
        <p:txBody>
          <a:bodyPr wrap="square" rtlCol="0" anchor="ctr"/>
          <a:lstStyle/>
          <a:p>
            <a:pPr indent="0" marL="0">
              <a:buNone/>
            </a:pPr>
            <a:r>
              <a:rPr lang="en-US" sz="900" b="1" dirty="0">
                <a:solidFill>
                  <a:srgbClr val="C4A04A"/>
                </a:solidFill>
                <a:latin typeface="Georgia" pitchFamily="34" charset="0"/>
                <a:ea typeface="Georgia" pitchFamily="34" charset="-122"/>
                <a:cs typeface="Georgia" pitchFamily="34" charset="-120"/>
              </a:rPr>
              <a:t>XIII</a:t>
            </a:r>
            <a:endParaRPr lang="en-US" sz="900" dirty="0"/>
          </a:p>
        </p:txBody>
      </p:sp>
      <p:sp>
        <p:nvSpPr>
          <p:cNvPr id="44" name="Text 41"/>
          <p:cNvSpPr/>
          <p:nvPr/>
        </p:nvSpPr>
        <p:spPr>
          <a:xfrm>
            <a:off x="6725412" y="3227832"/>
            <a:ext cx="4389120" cy="347472"/>
          </a:xfrm>
          <a:prstGeom prst="rect">
            <a:avLst/>
          </a:prstGeom>
          <a:noFill/>
          <a:ln/>
        </p:spPr>
        <p:txBody>
          <a:bodyPr wrap="square" rtlCol="0" anchor="ctr"/>
          <a:lstStyle/>
          <a:p>
            <a:pPr indent="0" marL="0">
              <a:buNone/>
            </a:pPr>
            <a:r>
              <a:rPr lang="en-US" sz="900" dirty="0">
                <a:solidFill>
                  <a:srgbClr val="1C1C1E"/>
                </a:solidFill>
                <a:latin typeface="Calibri" pitchFamily="34" charset="0"/>
                <a:ea typeface="Calibri" pitchFamily="34" charset="-122"/>
                <a:cs typeface="Calibri" pitchFamily="34" charset="-120"/>
              </a:rPr>
              <a:t>TRIANGULATION ANALYSIS (GST × BSA × ITR)</a:t>
            </a:r>
            <a:endParaRPr lang="en-US" sz="900" dirty="0"/>
          </a:p>
        </p:txBody>
      </p:sp>
      <p:sp>
        <p:nvSpPr>
          <p:cNvPr id="45" name="Text 42"/>
          <p:cNvSpPr/>
          <p:nvPr/>
        </p:nvSpPr>
        <p:spPr>
          <a:xfrm>
            <a:off x="11151108" y="3227832"/>
            <a:ext cx="274320" cy="347472"/>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a:t>
            </a:r>
            <a:endParaRPr lang="en-US" sz="1000" dirty="0"/>
          </a:p>
        </p:txBody>
      </p:sp>
      <p:sp>
        <p:nvSpPr>
          <p:cNvPr id="46" name="Text 43"/>
          <p:cNvSpPr/>
          <p:nvPr/>
        </p:nvSpPr>
        <p:spPr>
          <a:xfrm>
            <a:off x="411480" y="6473952"/>
            <a:ext cx="11365992" cy="256032"/>
          </a:xfrm>
          <a:prstGeom prst="rect">
            <a:avLst/>
          </a:prstGeom>
          <a:noFill/>
          <a:ln/>
        </p:spPr>
        <p:txBody>
          <a:bodyPr wrap="square" rtlCol="0" anchor="ctr"/>
          <a:lstStyle/>
          <a:p>
            <a:pPr indent="0" marL="0">
              <a:buNone/>
            </a:pPr>
            <a:r>
              <a:rPr lang="en-US" sz="800" dirty="0">
                <a:solidFill>
                  <a:srgbClr val="9CA3AF"/>
                </a:solidFill>
                <a:latin typeface="Calibri" pitchFamily="34" charset="0"/>
                <a:ea typeface="Calibri" pitchFamily="34" charset="-122"/>
                <a:cs typeface="Calibri" pitchFamily="34" charset="-120"/>
              </a:rPr>
              <a:t>CP: 6 conditions precedent  ·  SWOT: Generated  ·  AI Summary: Pending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Proposed Investment Structure</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Deal Summary</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70432"/>
          <a:ext cx="11365992" cy="914400"/>
        </p:xfrm>
        <a:graphic>
          <a:graphicData uri="http://schemas.openxmlformats.org/drawingml/2006/table">
            <a:tbl>
              <a:tblPr/>
              <a:tblGrid>
                <a:gridCol w="2286000"/>
                <a:gridCol w="3474720"/>
                <a:gridCol w="2286000"/>
                <a:gridCol w="3291840"/>
              </a:tblGrid>
              <a:tr h="640080">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Borrower</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AG Energy Private Limited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Case Reference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RH-MQTUWV0Z</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r>
              <a:tr h="640080">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Product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Operating Lease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Deal Amount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₹6 Cr</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r>
              <a:tr h="640080">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Tenure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98 Months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Expected IRR</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16% p.a.</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r>
              <a:tr h="640080">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Industry</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Energy &amp; Utilities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Constitution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Pvt Ltd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r>
              <a:tr h="640080">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1050" b="1" dirty="0">
                          <a:solidFill>
                            <a:srgbClr val="0F1B2D"/>
                          </a:solidFill>
                          <a:latin typeface="Calibri" pitchFamily="34" charset="0"/>
                          <a:ea typeface="Calibri" pitchFamily="34" charset="-122"/>
                          <a:cs typeface="Calibri" pitchFamily="34" charset="-120"/>
                        </a:rPr>
                        <a:t>Sub-type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050" dirty="0">
                          <a:solidFill>
                            <a:srgbClr val="1C1C1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MCA / Corpository Data</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Company Profile</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3017520"/>
                <a:gridCol w="8503920"/>
              </a:tblGrid>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Legal Name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AG Energy Private Limited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Legal Constitution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Pvt Ltd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Industry</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Energy &amp; Utilities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Year Established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2018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Website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https://www.agenergy.in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Registered Address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B-1210, 1st FLOOR GHAROLI DIARY COLONY MAYUR VIHAR East Delhi East Delhi Delhi 110096 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Notes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AG Energy Private Limited is an energy sector company operating in India with a focus on power generation, distribution, or renewable energy solutions. The company serves the energy and utilities market with infrastructure and operational expertise. As a private limited entity, it represents an institutional structure suitable for commercial financing.</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Is Active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true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Created By</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30faa8df-48b3-4645-8661-b88413af7987</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Cin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U45200DL2018PTC342258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Pan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AARCA6129N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Lei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984500F496FAUF8A5870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Category</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Company limited by shares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Sub Category</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Non-government company</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Type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Non-government company, Private, Unlisted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Authorized Capital</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15,000,000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Paid Up Capital</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15,000,000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Status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Active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Sector</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Construction &amp; Contracting- Real Estate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Products Services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Commercial buildings n.e.c.</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Email</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damodhar@aargee.co.in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Telephone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90******22</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Date Of Incorp</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28/11/2018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Date Last Bs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31/03/2025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Date Last Agm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30/09/2025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283464">
                <a:tc>
                  <a:txBody>
                    <a:bodyPr/>
                    <a:lstStyle/>
                    <a:p>
                      <a:pPr indent="0" marL="0">
                        <a:buNone/>
                      </a:pPr>
                      <a:r>
                        <a:rPr lang="en-US" sz="950" b="1" dirty="0">
                          <a:solidFill>
                            <a:srgbClr val="0F1B2D"/>
                          </a:solidFill>
                          <a:latin typeface="Calibri" pitchFamily="34" charset="0"/>
                          <a:ea typeface="Calibri" pitchFamily="34" charset="-122"/>
                          <a:cs typeface="Calibri" pitchFamily="34" charset="-120"/>
                        </a:rPr>
                        <a:t>Mca About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dirty="0">
                          <a:solidFill>
                            <a:srgbClr val="1C1C1E"/>
                          </a:solidFill>
                          <a:latin typeface="Calibri" pitchFamily="34" charset="0"/>
                          <a:ea typeface="Calibri" pitchFamily="34" charset="-122"/>
                          <a:cs typeface="Calibri" pitchFamily="34" charset="-120"/>
                        </a:rPr>
                        <a:t>AG ENERGY PRIVATE LIMITED is a private and unlisted company that is currently active. It operates in the construction and contracting sector, specifically in real estate, and focuses on commercial buildings. The company was incorporated on November 28, 2018, and is based in East Delhi, Delhi.</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There are 2 Directors.</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The shares are held entirely by promoters, with a shareholding percentage of 100%.</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For 2024-2025, the company's revenue from operations has increased by 16.22% and PAT has increased by 18.22%, indicating a positive trend in its financial performance. EBITDA has also seen a significant increase of 17.19%, which is a good sign for the company's profitability. However, the company's long-term borrowings have increased by 60.68%, which may raise concerns about its debt levels. On the other hand, short-term borrowings have decreased by 0.65%, which is a positive sign. The company's total debt to equity ratio has increased to 1.15 from 1.12 in the previous year, indicating a slight deterioration in its debt position.</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HDFC Bank Ltd. has the highest charge amount, and CHOLAMANDALAM INVESTMENT AND FINANCE COMPANY LIMITED is among the top bankers with open charges.</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The company is not rated by any of the major credit rating agencies.</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Mukul Tyagi &amp; Associates has been the auditor for the company in the recent year of 2024-2025. The auditor is MUKUL TYAGI &amp; ASSOCIATES, and the person signing the report is Mukul Tyagi.</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This company has no pending or closed high court cases as well as no pending or closed district court cases, according to the information provided.</a:t>
                      </a:r>
                      <a:endParaRPr lang="en-US" sz="950" dirty="0">
                        <a:latin typeface="Calibri" charset="0"/>
                        <a:ea typeface="Calibri" charset="0"/>
                        <a:cs typeface="Calibri" charset="0"/>
                      </a:endParaRPr>
                    </a:p>
                    <a:p>
                      <a:pPr indent="0" marL="0">
                        <a:buNone/>
                      </a:pPr>
                      <a:endParaRPr lang="en-US" sz="950" dirty="0">
                        <a:latin typeface="Calibri" charset="0"/>
                        <a:ea typeface="Calibri" charset="0"/>
                        <a:cs typeface="Calibri" charset="0"/>
                      </a:endParaRPr>
                    </a:p>
                    <a:p>
                      <a:pPr indent="0" marL="0">
                        <a:buNone/>
                      </a:pPr>
                      <a:r>
                        <a:rPr lang="en-US" sz="950" dirty="0">
                          <a:solidFill>
                            <a:srgbClr val="1C1C1E"/>
                          </a:solidFill>
                          <a:latin typeface="Calibri" pitchFamily="34" charset="0"/>
                          <a:ea typeface="Calibri" pitchFamily="34" charset="-122"/>
                          <a:cs typeface="Calibri" pitchFamily="34" charset="-120"/>
                        </a:rPr>
                        <a:t>AG ENERGY PRIVATE LIMITED has one EPF establishment in Delhi, with one delayed establishment in the financial year 2025-2026, specifically in August 2025, with a maximum delay of 43 days.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Corporate Governance</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Directors &amp; Key Persons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2926080"/>
                <a:gridCol w="1406652"/>
                <a:gridCol w="1406652"/>
                <a:gridCol w="1406652"/>
                <a:gridCol w="1406652"/>
                <a:gridCol w="1406652"/>
                <a:gridCol w="1406652"/>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Name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Din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Designation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Shareholding</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Age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Gender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Pan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DAMODHAR AKKINENI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07378578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Director(Promoter)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 As On 31/03/2025)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41 Years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Male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AJKPA6948C</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GEETA DEVI</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07367589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Director(Promoter)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43 Years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Female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AIHPD6240N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VANAJAKSHI AKKINENI</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07378577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Director(Promoter)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 As On 31/03/2025)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38 Years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Female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BJXPA6916N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I · Exec Summary</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EXECUTIVE SUMMARY</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Aft>
                <a:spcPts val="300"/>
              </a:spcAft>
              <a:buNone/>
            </a:pPr>
            <a:r>
              <a:rPr lang="en-US" sz="1050" dirty="0">
                <a:solidFill>
                  <a:srgbClr val="1C1C1E"/>
                </a:solidFill>
                <a:latin typeface="Calibri" pitchFamily="34" charset="0"/>
                <a:ea typeface="Calibri" pitchFamily="34" charset="-122"/>
                <a:cs typeface="Calibri" pitchFamily="34" charset="-120"/>
              </a:rPr>
              <a:t>AG Energy Private Limited (CIN: U45200DL2018PTC342258) is an East Delhi-based private limited company incorporated 28-Nov-2018, registered under Construction &amp; Contracting – Real Estate (MCA NIC), but operationally active in energy infrastructure / pipeline contracting (key client: Indraprastha Gas Limited). Rehbar is evaluating an Operating Lease of ₹6 Lakhs over 98 months at 16% IRR for machinery &amp; equipment procurement and renewable energy infrastructure development.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Key Ratios Snapshot (FY2025 Audited): EBITDA Margin 55.3% | D:E 1.15x | Interest Coverage 44.80x | Current Ratio 1.64x | DSCR 44.32x — coverage metrics are strong; however, the quantum of audited figures (PAT ~₹2,454L on turnover ~₹4,633L) is materially inconsistent with GST-derived TTM revenue of ~₹354L, raising a significant triangulation gap that must be resolved before disbursement.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Collateral: Power generation assets, plant &amp; machinery, land &amp; property, operational receivables. Residual value and security deposit not provided — analyst to confirm. Policy exceptions: None. Strategic fit: Asset-backed, essential-service infrastructure aligns with Shariah asset-ownership structure of OL.
</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II · Client Profile</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CLIENT &amp; PROMOTER PROFILE</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Aft>
                <a:spcPts val="300"/>
              </a:spcAft>
              <a:buNone/>
            </a:pPr>
            <a:r>
              <a:rPr lang="en-US" sz="1050" dirty="0">
                <a:solidFill>
                  <a:srgbClr val="1C1C1E"/>
                </a:solidFill>
                <a:latin typeface="Calibri" pitchFamily="34" charset="0"/>
                <a:ea typeface="Calibri" pitchFamily="34" charset="-122"/>
                <a:cs typeface="Calibri" pitchFamily="34" charset="-120"/>
              </a:rPr>
              <a:t>AG Energy Private Limited | CIN: U45200DL2018PTC342258 | PAN: AARCA6129N | Pvt Ltd, Company Limited by Shares | Incorporated: 28-Nov-2018 | Registered Address: B-1210, 1st Floor, Gharoli Dairy Colony, Mayur Vihar, East Delhi – 110096 | Auditor: Mukul Tyagi &amp; Associates (Mukul Tyagi signing) | Last B/S Filed: 31-Mar-2025 | Last AGM: 30-Sep-2025 | Not rated by any credit rating agency.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Shareholding anomaly: All promoter-directors reflect 0.00% individual shareholding despite MCA noting 100% promoter-held — beneficial ownership / share distribution not confirmed; analyst to obtain latest Form MGT-7 to reconcile.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CIBIL / CRIF: Not provided — analyst to obtain bureau reports for all three directors before IC. No group company data available. Charges held by HDFC Bank Ltd. and Cholamandalam Investment and Finance Company Limited (open).
</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III · Investment</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PROPOSED INVESTMENT STRUCTURE</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Aft>
                <a:spcPts val="300"/>
              </a:spcAft>
              <a:buNone/>
            </a:pPr>
            <a:r>
              <a:rPr lang="en-US" sz="1050" dirty="0">
                <a:solidFill>
                  <a:srgbClr val="1C1C1E"/>
                </a:solidFill>
                <a:latin typeface="Calibri" pitchFamily="34" charset="0"/>
                <a:ea typeface="Calibri" pitchFamily="34" charset="-122"/>
                <a:cs typeface="Calibri" pitchFamily="34" charset="-120"/>
              </a:rPr>
              <a:t>Product: Operating Lease (OL) | Amount: ₹6 Lakhs | Tenure: 98 months | IRR: 16% p.a. | Monthly Rental: Not provided — analyst to confirm EMI schedule.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OL SOP Implications: Asset to be owned by RERL; rentals attract GST; Proforma D1-D2 to be executed; NACH 10/15 mandate required; e-invoice to be raised post-payment. Residual value and security deposit not provided — must be specified before documentation. End-use is machinery/equipment procurement and energy infrastructure development, consistent with OL asset-ownership structure.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Repayment Justification: At ₹6L deal size, monthly rental obligation is modest relative to FY2025 audited DSCR of 44.32x and interest coverage of 44.80x; however, GST-derived TTM revenue (~₹354L annualised) implies far lower actual cash flows — repayment comfort must be re-anchored to GST/bank-statement-verified revenue, not audited figures, pending triangulation resolution. Bank statement not provided — Critical Pending (CP).
</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IV · Funding History</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REHBAR FUNDING HISTORY</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New Relationship: AG Energy Private Limited has no prior Rehbar facility history. This is a first-time exposure.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Credit References: Not provided — analyst to obtain trade/bank references and sanction letters from existing lenders (HDFC Bank, Cholamandalam) to assess conduct on existing charge-backed facilities.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 · Historical Financials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Profit &amp; Loss Statement</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3657600"/>
                <a:gridCol w="1541678"/>
                <a:gridCol w="1541678"/>
                <a:gridCol w="1541678"/>
                <a:gridCol w="1541678"/>
                <a:gridCol w="1541678"/>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Particulars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undefined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 · Historical Financials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Balance Sheet</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3657600"/>
                <a:gridCol w="1541678"/>
                <a:gridCol w="1541678"/>
                <a:gridCol w="1541678"/>
                <a:gridCol w="1541678"/>
                <a:gridCol w="1541678"/>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Particulars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undefined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 · Historical Financials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Projections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3840480"/>
                <a:gridCol w="1881378"/>
                <a:gridCol w="1881378"/>
                <a:gridCol w="1881378"/>
                <a:gridCol w="1881378"/>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Particulars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undefined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 · Financials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HISTORICAL FINANCIAL ANALYSIS (3Y)</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Revenue &amp; Profitability — Data Integrity Concern: Audited turnover scales from ~₹1,310L (FY2021) to ~₹4,633L (FY2025) with a near-doubling jump in FY2024; EBITDA margin surges from sub-14% to ~55% in FY2024–25, and ROE exceeds 375% — these ratios are implausible for a construction/contracting entity and suggest either significant other income, restatement, or data quality issues. GST TTM revenue of ~₹354L is ~13x lower than audited FY2025 turnover, a critical divergence requiring reconciliation with bank credits and GST 2A/2B.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Debt &amp; Liquidity: D:E is manageable at 1.15x (FY2025) with LT borrowings rising 61% YoY — open charges with HDFC and Cholamandalam noted. Current ratio 1.64x is above benchmark; however, cash ratio is near zero (0.07x vs. 0.35x benchmark) and creditor/inventory days show extreme volatility (-5,391 creditor days in FY2025), flagging possible data or accounting anomalies. Bank statement absent (CP) — financials cannot be independently verified.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 · Projections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PROJECTIONS &amp; ESTIMATES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Projection Waiver Applicable (SOP §XII): Deal size is ₹6 Lakhs, which is below the ₹100L threshold for OL/FL; formal projections may be waived. Provisional P&amp;L data has been provided for FY2024–FY2026; balance sheet fields are all zero — projections are P&amp;L-only and incomplete.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Credibility Assessment: Projected PAT growth FY2024→FY2025 is +52% (₹82L to ₹137L) — flagged AGGRESSIVE per SOP (&gt;50%); FY2025→FY2026 is +42%, which is elevated but below the &gt;100% hard flag. Projected turnover of ₹2,976L in FY2026 is ~8x the GST-derived TTM of ~₹354L — projections are not corroborated by GST data and must be validated against bank credits; management justification required before IC reliance.
</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Coverage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DSCR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4.57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3.30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28.96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44.32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Liquidity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Cash 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0.07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Current 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1.50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1.23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1.64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Quick 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1.50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1.30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Working Capital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31295496.00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58332459.00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47761112.00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53227618.00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82740287.00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Solvency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Debt / Total Assets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0.47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Debt / EBITDA</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1.86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3.56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Debt / Equity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0.97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2.13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Interest Coverage 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5.40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3.53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28.93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44.80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Long-term Debt / Equity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0.84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0.68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Assets / Equity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3.98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4.56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5.98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3.63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3.54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Liab / Net Worth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4.10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5.48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6.80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4.22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4.01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Profitability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EBITDA Margins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0.14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EBT Margins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Gross Profit Margin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1.18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0.96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PAT Margins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Fixed Assets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0.43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14.43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19.74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Revenue Growth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Assets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Capital Employed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0.49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0.54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0.41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3.92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3.71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Equity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0.29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0.29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3.75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3.55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Efficiency &amp; Turnover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Asset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0.96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0.70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1.99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Cap Employed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2.28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1.73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3.41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3.12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Cash Conversion Cycle*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1468.15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-1123.86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3895.14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Payable Days*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-1644.11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1590.23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-5390.90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Receivables Days*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219.73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194.11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189.04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38.31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60.66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Fixed Assets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6.85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6.66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11.97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27.72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37.27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Inventory Days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-365.00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428.06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-1556.42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Inventory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-1.00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0.85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-0.23 ✗</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Receivables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1.88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1.93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9.53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6.02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Working Capital Turnover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4.19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4.12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7.49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5.60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Expense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Employee Cost (% of Sales)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Finance Cost (% of Sales)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Total Other Expenses (% of Sales)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Raw Material Consumption (% of Sales)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R' Score Components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 Score (Composite)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3.49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2.11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10.20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10.43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EBITDA / Total Assets (×7)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Equity / Outside Liabilities (×1)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Retained Earnings / Total Assets (×3)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0.20</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WC Cushion / Total Assets (×6)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0.34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Return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4114800"/>
                <a:gridCol w="853005"/>
                <a:gridCol w="853005"/>
                <a:gridCol w="853005"/>
                <a:gridCol w="853005"/>
                <a:gridCol w="853005"/>
                <a:gridCol w="853005"/>
                <a:gridCol w="853005"/>
                <a:gridCol w="128016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Ratio</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2021</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2022</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2024</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FY 2027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Invested Capital (ROIC)</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0.05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1.77</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algn="l" indent="0" marL="0">
                        <a:buNone/>
                      </a:pPr>
                      <a:r>
                        <a:rPr lang="en-US" sz="900" dirty="0">
                          <a:solidFill>
                            <a:srgbClr val="1C1C1E"/>
                          </a:solidFill>
                          <a:latin typeface="Calibri" pitchFamily="34" charset="0"/>
                          <a:ea typeface="Calibri" pitchFamily="34" charset="-122"/>
                          <a:cs typeface="Calibri" pitchFamily="34" charset="-120"/>
                        </a:rPr>
                        <a:t>Return on Net Worth (RONW)</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0.29</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0.13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3.75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3.55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dirty="0">
                          <a:solidFill>
                            <a:srgbClr val="1C1C1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 · Key Ratios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KEY FINANCIAL RATIOS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Liquidity concern: Current ratio recovered to 1.64x in FY25 (at benchmark of 1.60x), but cash ratio remains critically low at 0.07x vs. 0.35x benchmark — near-zero cash buffer signals heavy reliance on receivables/working capital cycle; Quick ratio of 1.45x acceptable but borderline.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Leverage &amp; profitability anomaly: D/E at 1.15x is within the 1.20x threshold, but ROE/ROCE at 355%/371% in FY25 and R' Score of 10.43x are abnormally high — likely driven by a non-recurring income spike in FY24 that inflated PAT; DSCR shows 44.32x on historical data but projects 0.00x in FY26/FY27, flagging a data gap requiring analyst validation; interest coverage at 44.80x well exceeds the 4.00x threshold, supporting proposed rental serviceability at ₹6L deal quantum.
</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VIII · Cash Flow</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CASH FLOW STATEMENT</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Bank statement absent — ROUTING RISK UNVERIFIABLE: No bank statement provided; average monthly credits vs. proposed rental coverage cannot be computed; GST TTM revenue of ₹3.53Cr annualised implies ~₹29.5L/month credits, which should comfortably cover proposed OL rentals, but this must be confirmed via 12-month bank statement — flagged as Condition Precedent.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Revenue contraction &amp; concentration signal: GST turnover declined 17.7% YoY (FY25: ₹4.29Cr → FY26: ₹3.53Cr TTM); top customer Indraprastha Gas Limited alone constitutes 62.2% of TTM revenue — single-counterparty dependency creates significant cash flow volatility; 24 late GST filings on record and two nil-turnover months (Jan-26, Apr-26) indicate irregular billing cycles inconsistent with the provisional P&amp;L growth trajectory.
</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IX · Due Diligence</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DUE DILIGENCE EXCERPTS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GST vs. P&amp;L divergence — HIGH FLAG: Provisional FY25 turnover stated at ₹2,316L; GST-reported revenue for FY2024-25 is only ₹429L — a &gt;80% variance that cannot be explained by exemptions alone; analyst must reconcile with audited financials and obtain GSTR-9 annual return; ITC utilisation appears full (net tax near zero in most months), which is consistent but warrants cross-check against purchase register for circular transaction risk.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Customer concentration &amp; MCA sector mismatch: MCA classifies AG Energy under 'Construction &amp; Contracting — Real Estate / Commercial Buildings', not Energy &amp; Utilities; actual GST transactions are with gas pipeline entities (IGL, DS Pipeline) — business activity description must be verified via site visit and updated filings; no CIBIL/CRIF data available and no triangulation data provided — bureau pull and bank reference checks are mandatory before IC presentation.
</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X · Risk &amp; Mitigation</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Risk Assessment Matrix</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11480" y="1152144"/>
          <a:ext cx="11365992" cy="914400"/>
        </p:xfrm>
        <a:graphic>
          <a:graphicData uri="http://schemas.openxmlformats.org/drawingml/2006/table">
            <a:tbl>
              <a:tblPr/>
              <a:tblGrid>
                <a:gridCol w="2194560"/>
                <a:gridCol w="3383280"/>
                <a:gridCol w="4297680"/>
                <a:gridCol w="1463040"/>
              </a:tblGrid>
              <a:tr h="0">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l" indent="0" marL="0">
                        <a:buNone/>
                      </a:pPr>
                      <a:r>
                        <a:rPr lang="en-US" sz="900" b="1" dirty="0">
                          <a:solidFill>
                            <a:srgbClr val="FAFAF6"/>
                          </a:solidFill>
                          <a:latin typeface="Calibri" pitchFamily="34" charset="0"/>
                          <a:ea typeface="Calibri" pitchFamily="34" charset="-122"/>
                          <a:cs typeface="Calibri" pitchFamily="34" charset="-120"/>
                        </a:rPr>
                        <a:t>Mitigant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c>
                  <a:txBody>
                    <a:bodyPr/>
                    <a:lstStyle/>
                    <a:p>
                      <a:pPr algn="ctr" indent="0" marL="0">
                        <a:buNone/>
                      </a:pPr>
                      <a:r>
                        <a:rPr lang="en-US" sz="900" b="1" dirty="0">
                          <a:solidFill>
                            <a:srgbClr val="FAFAF6"/>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2D"/>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business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Single-customer concentration — IGL at 62.2% of TTM revenue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IGL is a AAA-rated PSU with stable gas distribution mandate; verify contract tenure and renewal clauses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business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MCA sector classification mismatch — registered as real estate construction, operating as energy/gas infrastructure contractor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Obtain updated business activity evidence; physical site visit and GST invoice-level review to confirm actual operations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financial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GST-reported turnover vs. provisional P&amp;L divergence exceeds 80% in FY25</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Reconcile via GSTR-9 annual return and audited financials; escalate to IC if unresolved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financial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Abnormal ROE/ROCE spike in FY24-25 (375%/392%) — sustainability and nature of income unverified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Review auditor notes, Schedule of Other Income; management to provide written clarification on income drivers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financial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Cash ratio critically low at 0.07x vs. 0.35x benchmark — near-zero cash buffer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Monitor via bank statement; OL rental is ₹6L deal — small quantum reduces default exposure materially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transaction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No bank statement — monthly credit flow and EMI serviceability unverifiable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12-month bank statement (primary operating account) mandated as hard Condition Precedent before disbursement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transaction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No CIBIL/CRIF data for entity or promoters — credit history unknown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Bureau pull for entity (PAN: AARCA6129N) and both promoters mandatory; open charges at HDFC and Chola to be verified for NOC/priority lien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6"/>
                    </a:solidFill>
                  </a:tcPr>
                </a:tc>
              </a:tr>
              <a:tr h="0">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industry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24 late GST filings and nil-turnover months (Jan-26, Apr-26) indicate irregular compliance and billing cycles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00" dirty="0">
                          <a:solidFill>
                            <a:srgbClr val="1C1C1E"/>
                          </a:solidFill>
                          <a:latin typeface="Calibri" pitchFamily="34" charset="0"/>
                          <a:ea typeface="Calibri" pitchFamily="34" charset="-122"/>
                          <a:cs typeface="Calibri" pitchFamily="34" charset="-120"/>
                        </a:rPr>
                        <a:t>Obtain GST compliance certificate and confirm no outstanding demand notices; review filing pattern against project milestone billing</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900" b="1" dirty="0">
                          <a:solidFill>
                            <a:srgbClr val="1D4ED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XI · Visit Report</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VISIT REPORT &amp; EXEC RECOMMENDATION</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Site visit: Not provided — analyst to confirm; given MCA-registered address is a residential colony in East Delhi (Gharoli Dairy Colony, Mayur Vihar) while operations appear to be in Delhi/Tamil Nadu energy infrastructure sector, physical site visit is critical to validate operational presence and asset existence.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Reference checks: Banker reference (HDFC Bank, Chola — both carry open charges) — not provided; vendor/customer references not provided; management background on promoters Damodhar Akkineni and Vanajakshi Akkineni not provided — analyst to confirm via LinkedIn, industry references, and charge-holder NOC status before IC.
</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Section XII · Product Reqs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SPECIFIC PRODUCT REQUIREMENTS &amp; EXEMPTIONS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152144"/>
            <a:ext cx="11365992" cy="5550408"/>
          </a:xfrm>
          <a:prstGeom prst="rect">
            <a:avLst/>
          </a:prstGeom>
          <a:noFill/>
          <a:ln/>
        </p:spPr>
        <p:txBody>
          <a:bodyPr wrap="square" rtlCol="0" anchor="t"/>
          <a:lstStyle/>
          <a:p>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Product: Operating Lease (OL) — SOP compliance: Deal amount ₹6L is below the ₹100L threshold; projection waiver applies per SOP §XII — no financial projections required for credit assessment; asset to be owned by RERL with rentals attracting GST; Proforma D1-D2 to be executed; NACH 10/15 mandate required; e-invoice to be raised post-payment confirmation; residual value and security deposit not provided — analyst to confirm and ensure SOP minimums are met before documentation.
</a:t>
            </a:r>
            <a:pPr indent="0" marL="0">
              <a:spcBef>
                <a:spcPts val="100"/>
              </a:spcBef>
              <a:spcAft>
                <a:spcPts val="300"/>
              </a:spcAft>
              <a:buNone/>
            </a:pPr>
            <a:r>
              <a:rPr lang="en-US" sz="1050" dirty="0">
                <a:solidFill>
                  <a:srgbClr val="1C1C1E"/>
                </a:solidFill>
                <a:latin typeface="Calibri" pitchFamily="34" charset="0"/>
                <a:ea typeface="Calibri" pitchFamily="34" charset="-122"/>
                <a:cs typeface="Calibri" pitchFamily="34" charset="-120"/>
              </a:rPr>
              <a:t>• Policy exceptions: None declared; however, absence of bank statement, CIBIL data, and the GST/P&amp;L divergence collectively represent underwriting data gaps that must be resolved prior to disbursement — these are not formal policy exceptions but are flagged as mandatory pre-disbursement CPs.
</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CP · Pre-Disbursement Requirements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Conditions Precedent</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Text 4"/>
          <p:cNvSpPr/>
          <p:nvPr/>
        </p:nvSpPr>
        <p:spPr>
          <a:xfrm>
            <a:off x="411480" y="1216152"/>
            <a:ext cx="11365992" cy="5458968"/>
          </a:xfrm>
          <a:prstGeom prst="rect">
            <a:avLst/>
          </a:prstGeom>
          <a:noFill/>
          <a:ln/>
        </p:spPr>
        <p:txBody>
          <a:bodyPr wrap="square" rtlCol="0" anchor="t"/>
          <a:lstStyle/>
          <a:p>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01.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Submission of 12-month bank statements for all primary operating accounts — mandatory for cash flow verification and rental coverage assessment prior to disbursement.
</a:t>
            </a:r>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02.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Bureau pull (CIBIL/CRIF) for AG Energy Private Limited (PAN: AARCA6129N) and both promoters (Damodhar Akkineni &amp; Vanajakshi Akkineni) — to be reviewed and cleared by credit team.
</a:t>
            </a:r>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03.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Reconciliation of FY25 GST-reported turnover (₹429L) vs. provisional P&amp;L turnover (₹2,316L) — GSTR-9 annual return and audited financials to be submitted with analyst sign-off on variance.
</a:t>
            </a:r>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04.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Physical site visit report confirming operational premises, asset existence, and business activity consistent with energy/gas infrastructure operations — given registered address is residential.
</a:t>
            </a:r>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05.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Confirmation of NOC / lien status from existing charge-holders (HDFC Bank Ltd. and Cholamandalam Investment and Finance Company Limited) on proposed collateral assets.
</a:t>
            </a:r>
            <a:pPr indent="0" marL="0">
              <a:spcAft>
                <a:spcPts val="800"/>
              </a:spcAft>
              <a:buNone/>
            </a:pPr>
            <a:r>
              <a:rPr lang="en-US" sz="1100" b="1" dirty="0">
                <a:solidFill>
                  <a:srgbClr val="0F1B2D"/>
                </a:solidFill>
                <a:latin typeface="Georgia" pitchFamily="34" charset="0"/>
                <a:ea typeface="Georgia" pitchFamily="34" charset="-122"/>
                <a:cs typeface="Georgia" pitchFamily="34" charset="-120"/>
              </a:rPr>
              <a:t>06.  </a:t>
            </a:r>
            <a:pPr indent="0" marL="0">
              <a:spcAft>
                <a:spcPts val="800"/>
              </a:spcAft>
              <a:buNone/>
            </a:pPr>
            <a:r>
              <a:rPr lang="en-US" sz="1050" dirty="0">
                <a:solidFill>
                  <a:srgbClr val="1C1C1E"/>
                </a:solidFill>
                <a:latin typeface="Calibri" pitchFamily="34" charset="0"/>
                <a:ea typeface="Calibri" pitchFamily="34" charset="-122"/>
                <a:cs typeface="Calibri" pitchFamily="34" charset="-120"/>
              </a:rPr>
              <a:t>Submission of Indraprastha Gas Limited supply/service contract copy confirming tenure and revenue terms — to assess concentration risk and cash flow sustainability.
</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AF6"/>
        </a:solidFill>
      </p:bgPr>
    </p:bg>
    <p:spTree>
      <p:nvGrpSpPr>
        <p:cNvPr id="1" name=""/>
        <p:cNvGrpSpPr/>
        <p:nvPr/>
      </p:nvGrpSpPr>
      <p:grpSpPr>
        <a:xfrm>
          <a:off x="0" y="0"/>
          <a:ext cx="0" cy="0"/>
          <a:chOff x="0" y="0"/>
          <a:chExt cx="0" cy="0"/>
        </a:xfrm>
      </p:grpSpPr>
      <p:sp>
        <p:nvSpPr>
          <p:cNvPr id="2" name="Shape 0"/>
          <p:cNvSpPr/>
          <p:nvPr/>
        </p:nvSpPr>
        <p:spPr>
          <a:xfrm>
            <a:off x="0" y="0"/>
            <a:ext cx="12188952" cy="987552"/>
          </a:xfrm>
          <a:prstGeom prst="rect">
            <a:avLst/>
          </a:prstGeom>
          <a:solidFill>
            <a:srgbClr val="0F1B2D"/>
          </a:solidFill>
          <a:ln w="12700">
            <a:solidFill>
              <a:srgbClr val="0F1B2D"/>
            </a:solidFill>
            <a:prstDash val="solid"/>
          </a:ln>
        </p:spPr>
      </p:sp>
      <p:sp>
        <p:nvSpPr>
          <p:cNvPr id="3" name="Shape 1"/>
          <p:cNvSpPr/>
          <p:nvPr/>
        </p:nvSpPr>
        <p:spPr>
          <a:xfrm>
            <a:off x="0" y="987552"/>
            <a:ext cx="12188952" cy="36576"/>
          </a:xfrm>
          <a:prstGeom prst="rect">
            <a:avLst/>
          </a:prstGeom>
          <a:solidFill>
            <a:srgbClr val="C4A04A"/>
          </a:solidFill>
          <a:ln w="12700">
            <a:solidFill>
              <a:srgbClr val="C4A04A"/>
            </a:solidFill>
            <a:prstDash val="solid"/>
          </a:ln>
        </p:spPr>
      </p:sp>
      <p:sp>
        <p:nvSpPr>
          <p:cNvPr id="4" name="Text 2"/>
          <p:cNvSpPr/>
          <p:nvPr/>
        </p:nvSpPr>
        <p:spPr>
          <a:xfrm>
            <a:off x="411480" y="91440"/>
            <a:ext cx="9582912" cy="246888"/>
          </a:xfrm>
          <a:prstGeom prst="rect">
            <a:avLst/>
          </a:prstGeom>
          <a:noFill/>
          <a:ln/>
        </p:spPr>
        <p:txBody>
          <a:bodyPr wrap="square" rtlCol="0" anchor="ctr"/>
          <a:lstStyle/>
          <a:p>
            <a:pPr indent="0" marL="0">
              <a:buNone/>
            </a:pPr>
            <a:r>
              <a:rPr lang="en-US" sz="700" spc="200" kern="0" dirty="0">
                <a:solidFill>
                  <a:srgbClr val="C4A04A"/>
                </a:solidFill>
                <a:latin typeface="Georgia" pitchFamily="34" charset="0"/>
                <a:ea typeface="Georgia" pitchFamily="34" charset="-122"/>
                <a:cs typeface="Georgia" pitchFamily="34" charset="-120"/>
              </a:rPr>
              <a:t>Strengths · Weaknesses · Opportunities · Threats</a:t>
            </a:r>
            <a:endParaRPr lang="en-US" sz="700" dirty="0"/>
          </a:p>
        </p:txBody>
      </p:sp>
      <p:sp>
        <p:nvSpPr>
          <p:cNvPr id="5" name="Text 3"/>
          <p:cNvSpPr/>
          <p:nvPr/>
        </p:nvSpPr>
        <p:spPr>
          <a:xfrm>
            <a:off x="411480" y="301752"/>
            <a:ext cx="9582912" cy="594360"/>
          </a:xfrm>
          <a:prstGeom prst="rect">
            <a:avLst/>
          </a:prstGeom>
          <a:noFill/>
          <a:ln/>
        </p:spPr>
        <p:txBody>
          <a:bodyPr wrap="square" rtlCol="0" anchor="ctr"/>
          <a:lstStyle/>
          <a:p>
            <a:pPr indent="0" marL="0">
              <a:buNone/>
            </a:pPr>
            <a:r>
              <a:rPr lang="en-US" sz="1800" b="1" dirty="0">
                <a:solidFill>
                  <a:srgbClr val="FAFAF6"/>
                </a:solidFill>
                <a:latin typeface="Georgia" pitchFamily="34" charset="0"/>
                <a:ea typeface="Georgia" pitchFamily="34" charset="-122"/>
                <a:cs typeface="Georgia" pitchFamily="34" charset="-120"/>
              </a:rPr>
              <a:t>SWOT Analysis</a:t>
            </a:r>
            <a:endParaRPr lang="en-US" sz="1800" dirty="0"/>
          </a:p>
        </p:txBody>
      </p:sp>
      <p:pic>
        <p:nvPicPr>
          <p:cNvPr id="6" name="Image 0" descr="preencoded.png">    </p:cNvPr>
          <p:cNvPicPr>
            <a:picLocks noChangeAspect="1"/>
          </p:cNvPicPr>
          <p:nvPr/>
        </p:nvPicPr>
        <p:blipFill>
          <a:blip r:embed="rId1"/>
          <a:stretch>
            <a:fillRect/>
          </a:stretch>
        </p:blipFill>
        <p:spPr>
          <a:xfrm>
            <a:off x="10314432" y="228600"/>
            <a:ext cx="1691640" cy="530352"/>
          </a:xfrm>
          <a:prstGeom prst="rect">
            <a:avLst/>
          </a:prstGeom>
        </p:spPr>
      </p:pic>
      <p:sp>
        <p:nvSpPr>
          <p:cNvPr id="7" name="Shape 4"/>
          <p:cNvSpPr/>
          <p:nvPr/>
        </p:nvSpPr>
        <p:spPr>
          <a:xfrm>
            <a:off x="274320" y="1152144"/>
            <a:ext cx="5742432" cy="2651760"/>
          </a:xfrm>
          <a:prstGeom prst="rect">
            <a:avLst/>
          </a:prstGeom>
          <a:solidFill>
            <a:srgbClr val="F0FDF4"/>
          </a:solidFill>
          <a:ln w="15240">
            <a:solidFill>
              <a:srgbClr val="86EFAC"/>
            </a:solidFill>
            <a:prstDash val="solid"/>
          </a:ln>
        </p:spPr>
      </p:sp>
      <p:sp>
        <p:nvSpPr>
          <p:cNvPr id="8" name="Text 5"/>
          <p:cNvSpPr/>
          <p:nvPr/>
        </p:nvSpPr>
        <p:spPr>
          <a:xfrm>
            <a:off x="438912" y="1243584"/>
            <a:ext cx="5394960" cy="274320"/>
          </a:xfrm>
          <a:prstGeom prst="rect">
            <a:avLst/>
          </a:prstGeom>
          <a:noFill/>
          <a:ln/>
        </p:spPr>
        <p:txBody>
          <a:bodyPr wrap="square" rtlCol="0" anchor="ctr"/>
          <a:lstStyle/>
          <a:p>
            <a:pPr indent="0" marL="0">
              <a:buNone/>
            </a:pPr>
            <a:r>
              <a:rPr lang="en-US" sz="900" b="1" spc="200" kern="0" dirty="0">
                <a:solidFill>
                  <a:srgbClr val="166534"/>
                </a:solidFill>
                <a:latin typeface="Georgia" pitchFamily="34" charset="0"/>
                <a:ea typeface="Georgia" pitchFamily="34" charset="-122"/>
                <a:cs typeface="Georgia" pitchFamily="34" charset="-120"/>
              </a:rPr>
              <a:t>STRENGTHS</a:t>
            </a:r>
            <a:endParaRPr lang="en-US" sz="900" dirty="0"/>
          </a:p>
        </p:txBody>
      </p:sp>
      <p:sp>
        <p:nvSpPr>
          <p:cNvPr id="9" name="Text 6"/>
          <p:cNvSpPr/>
          <p:nvPr/>
        </p:nvSpPr>
        <p:spPr>
          <a:xfrm>
            <a:off x="438912" y="1563624"/>
            <a:ext cx="5394960" cy="2148840"/>
          </a:xfrm>
          <a:prstGeom prst="rect">
            <a:avLst/>
          </a:prstGeom>
          <a:noFill/>
          <a:ln/>
        </p:spPr>
        <p:txBody>
          <a:bodyPr wrap="square" rtlCol="0" anchor="t"/>
          <a:lstStyle/>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Strong interest coverage at 44.80x in FY25 and D/E at 1.15x within threshold — proposed ₹6L OL facility presents negligible incremental leverage stress.</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Established relationship with Indraprastha Gas Limited (PSU, AAA-rated) as primary offtaker — provides counterparty quality anchor despite concentration risk.</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Revenue growth of 16.22% and PAT growth of 18.22% in FY25 (audited) with declining interest expense (₹99L in FY23 → ₹57L in FY25) indicates improving debt serviceability.</a:t>
            </a:r>
            <a:endParaRPr lang="en-US" sz="1000" dirty="0"/>
          </a:p>
        </p:txBody>
      </p:sp>
      <p:sp>
        <p:nvSpPr>
          <p:cNvPr id="10" name="Shape 7"/>
          <p:cNvSpPr/>
          <p:nvPr/>
        </p:nvSpPr>
        <p:spPr>
          <a:xfrm>
            <a:off x="6281928" y="1152144"/>
            <a:ext cx="5742432" cy="2651760"/>
          </a:xfrm>
          <a:prstGeom prst="rect">
            <a:avLst/>
          </a:prstGeom>
          <a:solidFill>
            <a:srgbClr val="FEF2F2"/>
          </a:solidFill>
          <a:ln w="15240">
            <a:solidFill>
              <a:srgbClr val="FCA5A5"/>
            </a:solidFill>
            <a:prstDash val="solid"/>
          </a:ln>
        </p:spPr>
      </p:sp>
      <p:sp>
        <p:nvSpPr>
          <p:cNvPr id="11" name="Text 8"/>
          <p:cNvSpPr/>
          <p:nvPr/>
        </p:nvSpPr>
        <p:spPr>
          <a:xfrm>
            <a:off x="6446520" y="1243584"/>
            <a:ext cx="5394960" cy="274320"/>
          </a:xfrm>
          <a:prstGeom prst="rect">
            <a:avLst/>
          </a:prstGeom>
          <a:noFill/>
          <a:ln/>
        </p:spPr>
        <p:txBody>
          <a:bodyPr wrap="square" rtlCol="0" anchor="ctr"/>
          <a:lstStyle/>
          <a:p>
            <a:pPr indent="0" marL="0">
              <a:buNone/>
            </a:pPr>
            <a:r>
              <a:rPr lang="en-US" sz="900" b="1" spc="200" kern="0" dirty="0">
                <a:solidFill>
                  <a:srgbClr val="991B1B"/>
                </a:solidFill>
                <a:latin typeface="Georgia" pitchFamily="34" charset="0"/>
                <a:ea typeface="Georgia" pitchFamily="34" charset="-122"/>
                <a:cs typeface="Georgia" pitchFamily="34" charset="-120"/>
              </a:rPr>
              <a:t>WEAKNESSES</a:t>
            </a:r>
            <a:endParaRPr lang="en-US" sz="900" dirty="0"/>
          </a:p>
        </p:txBody>
      </p:sp>
      <p:sp>
        <p:nvSpPr>
          <p:cNvPr id="12" name="Text 9"/>
          <p:cNvSpPr/>
          <p:nvPr/>
        </p:nvSpPr>
        <p:spPr>
          <a:xfrm>
            <a:off x="6446520" y="1563624"/>
            <a:ext cx="5394960" cy="2148840"/>
          </a:xfrm>
          <a:prstGeom prst="rect">
            <a:avLst/>
          </a:prstGeom>
          <a:noFill/>
          <a:ln/>
        </p:spPr>
        <p:txBody>
          <a:bodyPr wrap="square" rtlCol="0" anchor="t"/>
          <a:lstStyle/>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Cash ratio at 0.07x (benchmark 0.35x) and absence of bank statements signal near-zero liquid buffer and unverifiable day-to-day cash flow management.</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24 late GST filings and &gt;80% divergence between GST-reported and provisional P&amp;L turnover raise serious data integrity and compliance concerns.</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MCA classification under real estate construction misaligns with actual energy/pipeline operations — raises questions on regulatory compliance and business description accuracy.</a:t>
            </a:r>
            <a:endParaRPr lang="en-US" sz="1000" dirty="0"/>
          </a:p>
        </p:txBody>
      </p:sp>
      <p:sp>
        <p:nvSpPr>
          <p:cNvPr id="13" name="Shape 10"/>
          <p:cNvSpPr/>
          <p:nvPr/>
        </p:nvSpPr>
        <p:spPr>
          <a:xfrm>
            <a:off x="274320" y="3968496"/>
            <a:ext cx="5742432" cy="2651760"/>
          </a:xfrm>
          <a:prstGeom prst="rect">
            <a:avLst/>
          </a:prstGeom>
          <a:solidFill>
            <a:srgbClr val="EFF6FF"/>
          </a:solidFill>
          <a:ln w="15240">
            <a:solidFill>
              <a:srgbClr val="93C5FD"/>
            </a:solidFill>
            <a:prstDash val="solid"/>
          </a:ln>
        </p:spPr>
      </p:sp>
      <p:sp>
        <p:nvSpPr>
          <p:cNvPr id="14" name="Text 11"/>
          <p:cNvSpPr/>
          <p:nvPr/>
        </p:nvSpPr>
        <p:spPr>
          <a:xfrm>
            <a:off x="438912" y="4059936"/>
            <a:ext cx="5394960" cy="274320"/>
          </a:xfrm>
          <a:prstGeom prst="rect">
            <a:avLst/>
          </a:prstGeom>
          <a:noFill/>
          <a:ln/>
        </p:spPr>
        <p:txBody>
          <a:bodyPr wrap="square" rtlCol="0" anchor="ctr"/>
          <a:lstStyle/>
          <a:p>
            <a:pPr indent="0" marL="0">
              <a:buNone/>
            </a:pPr>
            <a:r>
              <a:rPr lang="en-US" sz="900" b="1" spc="200" kern="0" dirty="0">
                <a:solidFill>
                  <a:srgbClr val="1E40AF"/>
                </a:solidFill>
                <a:latin typeface="Georgia" pitchFamily="34" charset="0"/>
                <a:ea typeface="Georgia" pitchFamily="34" charset="-122"/>
                <a:cs typeface="Georgia" pitchFamily="34" charset="-120"/>
              </a:rPr>
              <a:t>OPPORTUNITIES</a:t>
            </a:r>
            <a:endParaRPr lang="en-US" sz="900" dirty="0"/>
          </a:p>
        </p:txBody>
      </p:sp>
      <p:sp>
        <p:nvSpPr>
          <p:cNvPr id="15" name="Text 12"/>
          <p:cNvSpPr/>
          <p:nvPr/>
        </p:nvSpPr>
        <p:spPr>
          <a:xfrm>
            <a:off x="438912" y="4379976"/>
            <a:ext cx="5394960" cy="2148840"/>
          </a:xfrm>
          <a:prstGeom prst="rect">
            <a:avLst/>
          </a:prstGeom>
          <a:noFill/>
          <a:ln/>
        </p:spPr>
        <p:txBody>
          <a:bodyPr wrap="square" rtlCol="0" anchor="t"/>
          <a:lstStyle/>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India's accelerating gas distribution network expansion (City Gas Distribution rollout) offers pipeline project pipeline for IGL-linked contractors like AG Energy.</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Proposed OL facility for machinery/equipment can enhance operational capacity and position the company to bid for larger CAPEX-intensive energy infrastructure contracts.</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Declining interest expense trend (FY23–FY25) creates headroom to refinance existing debt at better terms, improving DSCR on a forward basis.</a:t>
            </a:r>
            <a:endParaRPr lang="en-US" sz="1000" dirty="0"/>
          </a:p>
        </p:txBody>
      </p:sp>
      <p:sp>
        <p:nvSpPr>
          <p:cNvPr id="16" name="Shape 13"/>
          <p:cNvSpPr/>
          <p:nvPr/>
        </p:nvSpPr>
        <p:spPr>
          <a:xfrm>
            <a:off x="6281928" y="3968496"/>
            <a:ext cx="5742432" cy="2651760"/>
          </a:xfrm>
          <a:prstGeom prst="rect">
            <a:avLst/>
          </a:prstGeom>
          <a:solidFill>
            <a:srgbClr val="FFFBEB"/>
          </a:solidFill>
          <a:ln w="15240">
            <a:solidFill>
              <a:srgbClr val="FCD34D"/>
            </a:solidFill>
            <a:prstDash val="solid"/>
          </a:ln>
        </p:spPr>
      </p:sp>
      <p:sp>
        <p:nvSpPr>
          <p:cNvPr id="17" name="Text 14"/>
          <p:cNvSpPr/>
          <p:nvPr/>
        </p:nvSpPr>
        <p:spPr>
          <a:xfrm>
            <a:off x="6446520" y="4059936"/>
            <a:ext cx="5394960" cy="274320"/>
          </a:xfrm>
          <a:prstGeom prst="rect">
            <a:avLst/>
          </a:prstGeom>
          <a:noFill/>
          <a:ln/>
        </p:spPr>
        <p:txBody>
          <a:bodyPr wrap="square" rtlCol="0" anchor="ctr"/>
          <a:lstStyle/>
          <a:p>
            <a:pPr indent="0" marL="0">
              <a:buNone/>
            </a:pPr>
            <a:r>
              <a:rPr lang="en-US" sz="900" b="1" spc="200" kern="0" dirty="0">
                <a:solidFill>
                  <a:srgbClr val="92400E"/>
                </a:solidFill>
                <a:latin typeface="Georgia" pitchFamily="34" charset="0"/>
                <a:ea typeface="Georgia" pitchFamily="34" charset="-122"/>
                <a:cs typeface="Georgia" pitchFamily="34" charset="-120"/>
              </a:rPr>
              <a:t>THREATS</a:t>
            </a:r>
            <a:endParaRPr lang="en-US" sz="900" dirty="0"/>
          </a:p>
        </p:txBody>
      </p:sp>
      <p:sp>
        <p:nvSpPr>
          <p:cNvPr id="18" name="Text 15"/>
          <p:cNvSpPr/>
          <p:nvPr/>
        </p:nvSpPr>
        <p:spPr>
          <a:xfrm>
            <a:off x="6446520" y="4379976"/>
            <a:ext cx="5394960" cy="2148840"/>
          </a:xfrm>
          <a:prstGeom prst="rect">
            <a:avLst/>
          </a:prstGeom>
          <a:noFill/>
          <a:ln/>
        </p:spPr>
        <p:txBody>
          <a:bodyPr wrap="square" rtlCol="0" anchor="t"/>
          <a:lstStyle/>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Over-reliance on a single PSU customer (IGL at 62.2%) — any contract non-renewal, regulatory change, or dispute directly impairs repayment capacity.</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Systemic GST compliance weakness and unresolved P&amp;L divergence expose the company to potential tax authority scrutiny, penalties, or demand notices disrupting cash flows.</a:t>
            </a:r>
            <a:endParaRPr lang="en-US" sz="1000" dirty="0"/>
          </a:p>
          <a:p>
            <a:pPr indent="0" marL="0">
              <a:spcAft>
                <a:spcPts val="200"/>
              </a:spcAft>
              <a:buNone/>
            </a:pPr>
            <a:r>
              <a:rPr lang="en-US" sz="1000" dirty="0">
                <a:solidFill>
                  <a:srgbClr val="1C1C1E"/>
                </a:solidFill>
                <a:latin typeface="Calibri" pitchFamily="34" charset="0"/>
                <a:ea typeface="Calibri" pitchFamily="34" charset="-122"/>
                <a:cs typeface="Calibri" pitchFamily="34" charset="-120"/>
              </a:rPr>
              <a:t>• Open charges from two financial institutions (HDFC Bank, Chola) with undisclosed outstanding amounts may result in priority lien conflicts against Rehbar's security position.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775704"/>
            <a:ext cx="12188952" cy="82296"/>
          </a:xfrm>
          <a:prstGeom prst="rect">
            <a:avLst/>
          </a:prstGeom>
          <a:solidFill>
            <a:srgbClr val="C4A04A"/>
          </a:solidFill>
          <a:ln w="12700">
            <a:solidFill>
              <a:srgbClr val="C4A04A"/>
            </a:solidFill>
            <a:prstDash val="solid"/>
          </a:ln>
        </p:spPr>
      </p:sp>
      <p:pic>
        <p:nvPicPr>
          <p:cNvPr id="3" name="Image 0" descr="preencoded.png">    </p:cNvPr>
          <p:cNvPicPr>
            <a:picLocks noChangeAspect="1"/>
          </p:cNvPicPr>
          <p:nvPr/>
        </p:nvPicPr>
        <p:blipFill>
          <a:blip r:embed="rId1"/>
          <a:stretch>
            <a:fillRect/>
          </a:stretch>
        </p:blipFill>
        <p:spPr>
          <a:xfrm>
            <a:off x="4037076" y="822960"/>
            <a:ext cx="4114800" cy="1280160"/>
          </a:xfrm>
          <a:prstGeom prst="rect">
            <a:avLst/>
          </a:prstGeom>
        </p:spPr>
      </p:pic>
      <p:sp>
        <p:nvSpPr>
          <p:cNvPr id="4" name="Text 1"/>
          <p:cNvSpPr/>
          <p:nvPr/>
        </p:nvSpPr>
        <p:spPr>
          <a:xfrm>
            <a:off x="1371600" y="2560320"/>
            <a:ext cx="9445752" cy="777240"/>
          </a:xfrm>
          <a:prstGeom prst="rect">
            <a:avLst/>
          </a:prstGeom>
          <a:noFill/>
          <a:ln/>
        </p:spPr>
        <p:txBody>
          <a:bodyPr wrap="square" rtlCol="0" anchor="ctr"/>
          <a:lstStyle/>
          <a:p>
            <a:pPr algn="ctr" indent="0" marL="0">
              <a:buNone/>
            </a:pPr>
            <a:r>
              <a:rPr lang="en-US" sz="1200" dirty="0">
                <a:solidFill>
                  <a:srgbClr val="FAFAF6">
                    <a:alpha val="80000"/>
                  </a:srgbClr>
                </a:solidFill>
                <a:latin typeface="Calibri" pitchFamily="34" charset="0"/>
                <a:ea typeface="Calibri" pitchFamily="34" charset="-122"/>
                <a:cs typeface="Calibri" pitchFamily="34" charset="-120"/>
              </a:rPr>
              <a:t>This presentation is strictly confidential and prepared</a:t>
            </a:r>
            <a:endParaRPr lang="en-US" sz="1200" dirty="0"/>
          </a:p>
          <a:p>
            <a:pPr algn="ctr" indent="0" marL="0">
              <a:buNone/>
            </a:pPr>
            <a:r>
              <a:rPr lang="en-US" sz="1200" dirty="0">
                <a:solidFill>
                  <a:srgbClr val="FAFAF6">
                    <a:alpha val="80000"/>
                  </a:srgbClr>
                </a:solidFill>
                <a:latin typeface="Calibri" pitchFamily="34" charset="0"/>
                <a:ea typeface="Calibri" pitchFamily="34" charset="-122"/>
                <a:cs typeface="Calibri" pitchFamily="34" charset="-120"/>
              </a:rPr>
              <a:t>for internal Investment Committee use only.</a:t>
            </a:r>
            <a:endParaRPr lang="en-US" sz="1200" dirty="0"/>
          </a:p>
        </p:txBody>
      </p:sp>
      <p:sp>
        <p:nvSpPr>
          <p:cNvPr id="5" name="Text 2"/>
          <p:cNvSpPr/>
          <p:nvPr/>
        </p:nvSpPr>
        <p:spPr>
          <a:xfrm>
            <a:off x="0" y="3429000"/>
            <a:ext cx="12188952" cy="384048"/>
          </a:xfrm>
          <a:prstGeom prst="rect">
            <a:avLst/>
          </a:prstGeom>
          <a:noFill/>
          <a:ln/>
        </p:spPr>
        <p:txBody>
          <a:bodyPr wrap="square" rtlCol="0" anchor="ctr"/>
          <a:lstStyle/>
          <a:p>
            <a:pPr algn="ctr" indent="0" marL="0">
              <a:buNone/>
            </a:pPr>
            <a:r>
              <a:rPr lang="en-US" sz="1200" dirty="0">
                <a:solidFill>
                  <a:srgbClr val="C4A04A"/>
                </a:solidFill>
                <a:latin typeface="Georgia" pitchFamily="34" charset="0"/>
                <a:ea typeface="Georgia" pitchFamily="34" charset="-122"/>
                <a:cs typeface="Georgia" pitchFamily="34" charset="-120"/>
              </a:rPr>
              <a:t>AG Energy Private Limited</a:t>
            </a:r>
            <a:endParaRPr lang="en-US" sz="1200" dirty="0"/>
          </a:p>
        </p:txBody>
      </p:sp>
      <p:sp>
        <p:nvSpPr>
          <p:cNvPr id="6" name="Text 3"/>
          <p:cNvSpPr/>
          <p:nvPr/>
        </p:nvSpPr>
        <p:spPr>
          <a:xfrm>
            <a:off x="0" y="6345936"/>
            <a:ext cx="12188952" cy="274320"/>
          </a:xfrm>
          <a:prstGeom prst="rect">
            <a:avLst/>
          </a:prstGeom>
          <a:noFill/>
          <a:ln/>
        </p:spPr>
        <p:txBody>
          <a:bodyPr wrap="square" rtlCol="0" anchor="ctr"/>
          <a:lstStyle/>
          <a:p>
            <a:pPr algn="ctr" indent="0" marL="0">
              <a:buNone/>
            </a:pPr>
            <a:r>
              <a:rPr lang="en-US" sz="850" dirty="0">
                <a:solidFill>
                  <a:srgbClr val="FAFAF6">
                    <a:alpha val="65000"/>
                  </a:srgbClr>
                </a:solidFill>
                <a:latin typeface="Calibri" pitchFamily="34" charset="0"/>
                <a:ea typeface="Calibri" pitchFamily="34" charset="-122"/>
                <a:cs typeface="Calibri" pitchFamily="34" charset="-120"/>
              </a:rPr>
              <a:t>© Rehbar Financial Services  ·  rehbar.co.in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Rehbar Financial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Committee Credit Appraisal Note</dc:title>
  <dc:subject>IC Appraisal Note — AG Energy Private Limited</dc:subject>
  <dc:creator>Rehbar Credit Terminal</dc:creator>
  <cp:lastModifiedBy>Rehbar Credit Terminal</cp:lastModifiedBy>
  <cp:revision>1</cp:revision>
  <dcterms:created xsi:type="dcterms:W3CDTF">2026-06-26T07:13:37Z</dcterms:created>
  <dcterms:modified xsi:type="dcterms:W3CDTF">2026-06-26T07:13:37Z</dcterms:modified>
</cp:coreProperties>
</file>