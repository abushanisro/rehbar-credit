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41148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0" y="1097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Modified : 28-06-2026</a:t>
            </a:r>
            <a:endParaRPr lang="en-US" sz="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1600200"/>
            <a:ext cx="3291840" cy="10241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77356" y="2770632"/>
            <a:ext cx="3840480" cy="25603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277356" y="2779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Guide to Secure Profitable Investments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206240" y="3227832"/>
            <a:ext cx="79827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Proposal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669280" y="3813048"/>
            <a:ext cx="5056632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06240" y="3941064"/>
            <a:ext cx="79827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 Energy Private Limited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206240" y="4489704"/>
            <a:ext cx="7982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6184" y="64008"/>
            <a:ext cx="1417320" cy="438912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73152"/>
          <a:ext cx="119329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144000"/>
                <a:gridCol w="1188720"/>
              </a:tblGrid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• Table of Content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SUMMARY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&amp; PROMOTER PROFILE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INVESTMENT 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REHBAR FUNDING HISTORY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FINANCIAL ANALYSIS (3Y)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PROJECTIONS &amp; ESTIMATES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FINANCIAL RATIOS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 STATEMENT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DILIGENCE EXCERPTS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ASSESSMENT &amp; MITIGATION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REPORT &amp; EXEC RECOMMENDATION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PRODUCT REQUIREMENTS &amp; EXEMPTIONS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TRIANGULATION ANALYSIS (GST × BSA × ITR)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Precedent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SWOT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256032" y="6675120"/>
            <a:ext cx="1193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REHBAR FINANCIAL SERVICES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Investment Structure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Summary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113659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286000"/>
                <a:gridCol w="32918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 Energy Private 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RH-MQTUWV0Z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 p.a.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&amp; Utilities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Pvt Ltd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Sub-type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MCA / Corpository Data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Profile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50392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 Energy Private Limited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Constitution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Pvt Ltd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&amp; Utilities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Established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https://www.agenergy.in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Address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B-1210, 1st FLOOR GHAROLI DIARY COLONY MAYUR VIHAR East Delhi East Delhi Delhi 110096 India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 Energy Private Limited is an energy sector company operating in India with a focus on power generation, di…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Active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By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30faa8df-48b3-4645-8661-b88413af7987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Cin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U45200DL2018PTC342258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Pan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AARCA6129N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Lei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984500F496FAUF8A5870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limited by shares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Sub 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Non-government company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Non-government company, Private, Unlisted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Authorized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Paid Up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Sector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&amp; Contracting- Real Estate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Products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buildings n.e.c.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Email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damodhar@aargee.co.in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Telephone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90******22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Date Of Incorp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28/11/2018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Date Last Bs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31/03/2025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Date Last Agm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30/09/2025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About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 ENERGY PRIVATE LIMITED is a private and unlisted company that is currently active. It operates in the cons…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 Governance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Directors &amp; Key Persons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24558"/>
                <a:gridCol w="1724558"/>
                <a:gridCol w="1724558"/>
                <a:gridCol w="1724558"/>
                <a:gridCol w="172455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Shareholding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DAMODHAR AKKINENI 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07378578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Director(Promoter)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0.00 %( As On 31/03/2025)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AJKPA6948C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GEETA DEVI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07367589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Director(Promoter)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AIHPD6240N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VANAJAKSHI AKKINENI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07378577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Director(Promoter)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0.00 %( As On 31/03/2025)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BJXPA6916N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· Exec Summary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 (CIN: U45200DL2018PTC342258) is an East Delhi-based private limited company incorporated 28-Nov-2018, registered under Construction &amp; Contracting – Real Estate (MCA NIC), but operationally active in energy infrastructure / pipeline contracting (key client: Indraprastha Gas Limited). Rehbar is evaluating an Operating Lease of ₹6 Lakhs over 98 months at 16% IRR for machinery &amp; equipment procurement and renewable energy infrastructure development.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Ratios Snapshot (FY2025 Audited): EBITDA Margin 55.3% | D:E 1.15x | Interest Coverage 44.80x | Current Ratio 1.64x | DSCR 44.32x — coverage metrics are strong; however, the quantum of audited figures (PAT ~₹2,454L on turnover ~₹4,633L) is materially inconsistent with GST-derived TTM revenue of ~₹354L, raising a significant triangulation gap that must be resolved before disbursement.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Collateral: Power generation assets, plant &amp; machinery, land &amp; property, operational receivables. Residual value and security deposit not provided — analyst to confirm. Policy exceptions: None. Strategic fit: Asset-backed, essential-service infrastructure aligns with Shariah asset-ownership structure of OL.
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&amp; PROMOTER PROFILE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 · Client Profile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 | CIN: U45200DL2018PTC342258 | PAN: AARCA6129N | Pvt Ltd, Company Limited by Shares | Incorporated: 28-Nov-2018 | Registered Address: B-1210, 1st Floor, Gharoli Dairy Colony, Mayur Vihar, East Delhi – 110096 | Auditor: Mukul Tyagi &amp; Associates (Mukul Tyagi signing) | Last B/S Filed: 31-Mar-2025 | Last AGM: 30-Sep-2025 | Not rated by any credit rating agency.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Shareholding anomaly: All promoter-directors reflect 0.00% individual shareholding despite MCA noting 100% promoter-held — beneficial ownership / share distribution not confirmed; analyst to obtain latest Form MGT-7 to reconcile.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CIBIL / CRIF: Not provided — analyst to obtain bureau reports for all three directors before IC. No group company data available. Charges held by HDFC Bank Ltd. and Cholamandalam Investment and Finance Company Limited (open).
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INVESTMENT STRUCTURE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 · Investment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Operating Lease (OL) | Amount: ₹6 Lakhs | Tenure: 98 months | IRR: 16% p.a. | Monthly Rental: Not provided — analyst to confirm EMI schedule.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 SOP Implications: Asset to be owned by RERL; rentals attract GST; Proforma D1-D2 to be executed; NACH 10/15 mandate required; e-invoice to be raised post-payment. Residual value and security deposit not provided — must be specified before documentation. End-use is machinery/equipment procurement and energy infrastructure development, consistent with OL asset-ownership structure.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Repayment Justification: At ₹6L deal size, monthly rental obligation is modest relative to FY2025 audited DSCR of 44.32x and interest coverage of 44.80x; however, GST-derived TTM revenue (~₹354L annualised) implies far lower actual cash flows — repayment comfort must be re-anchored to GST/bank-statement-verified revenue, not audited figures, pending triangulation resolution. Bank statement not provided — Critical Pending (CP).
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REHBAR FUNDING HISTORY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 · Funding History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Relationship: AG Energy Private Limited has no prior Rehbar facility history. This is a first-time exposure.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 References: Not provided — analyst to obtain trade/bank references and sanction letters from existing lenders (HDFC Bank, Cholamandalam) to assess conduct on existing charge-backed facilities.
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 · Historical Financials  (1 / 2)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&amp; Loss Statement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96542"/>
                <a:gridCol w="1596542"/>
                <a:gridCol w="1596542"/>
                <a:gridCol w="1596542"/>
                <a:gridCol w="159654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from Sale of Products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from Sale of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Sales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from Operations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15.69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Materials Consumed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 of Stock in Trade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in Inventories of Finished Goods,…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-3.49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-57.66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Benefit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24.85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30.03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Expenses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Costs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26.49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99.17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74.97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57.12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Depreciation, Depletion and Amortiz…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9.05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Expenses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18.95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before Exceptional and Extraordina…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Exceptional Items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before Extraordinary Items and Tax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Extraordinary Items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before Tax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Tax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37.32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38.90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17.43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 · Historical Financials  (2 / 2)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&amp; Loss Statement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96542"/>
                <a:gridCol w="1596542"/>
                <a:gridCol w="1596542"/>
                <a:gridCol w="1596542"/>
                <a:gridCol w="159654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Tax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3.52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-5.77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97,479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Movement in Regulatory Deferral Accou…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Profit/(Loss) for the Period from Continu…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61.45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Profit/(Loss) from Discontinuing Operatio…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Expense of Discontinuing Operations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Profit/(Loss) from Discontinuing Operatio…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Profit/(Loss)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61.45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61.45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26.49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99.17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74.97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57.12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9.05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 · Historical Financials  (1 / 3)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Sheet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96542"/>
                <a:gridCol w="1596542"/>
                <a:gridCol w="1596542"/>
                <a:gridCol w="1596542"/>
                <a:gridCol w="159654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Capital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 &amp; Surplus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Received against Warrants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Application Money Pending Allotment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Minority Interest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Borrowings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Secured Long-term Borrowings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Unsecured Long-term Borrowings (A)+ (B)+ 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17.26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73.00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Bonds/ Debentures (A)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 Loans  (B)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banks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other parties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 and advances from related parties (…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6.26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Unsecured Long-term Borrowings (D)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73.00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73.00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84.00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Tax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5.83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Non Current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Provisions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Non Current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Borrowings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Secured Short-term Borrowings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Unsecured Short-term Borrowings (A)+ (B)+…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 · Historical Financials  (2 / 3)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Sheet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96542"/>
                <a:gridCol w="1596542"/>
                <a:gridCol w="1596542"/>
                <a:gridCol w="1596542"/>
                <a:gridCol w="159654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 repayable on demand  (A)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 and advances from related parties (…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Unsecured Short-term Borrowings (C)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Payables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Current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70.30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Provisions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50.23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38.52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26.87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Current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9.65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Equity &amp;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Equity &amp;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Tangible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Intangible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22,948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13,706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Block of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Work in Progress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Intangible Asset under Development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Fixed Asset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Current Investment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Tax Assets (Net)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Loans &amp; Advances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Non Current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49.05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Non Current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Investment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 · Historical Financials  (3 / 3)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Sheet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96542"/>
                <a:gridCol w="1596542"/>
                <a:gridCol w="1596542"/>
                <a:gridCol w="1596542"/>
                <a:gridCol w="159654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Receivables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Cash Equivalents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14.27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Loans &amp; Advances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57.89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5.03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29.29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18.04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Current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Current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16.95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Total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16.95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Worth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9.65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Employed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5.75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Assets (Net)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Term Borrowings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Term Borrowings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Bank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7.38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14.27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91.81 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8.70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6.66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6.18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7.93 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 · Historical Financials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Financials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927098"/>
                <a:gridCol w="1927098"/>
                <a:gridCol w="1927098"/>
                <a:gridCol w="1927098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Turnover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Other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COGS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185.32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189.76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Employee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Interest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Depreciation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Other Expenses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Profit Before Tax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185.10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260.45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319.08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Tax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PAT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238.63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Share Capital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Reserves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540.24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735.02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973.66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LT Borrowings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490.73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778.00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675.85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ST Borrowings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301.84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320.07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345.67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Trade Payables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699.23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851.65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902.75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Other Current Liabilities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Fixed Assets (Net Block)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124.31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142.38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Inventory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188.22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245.88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205.18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182.61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Trade Receivables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769.89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963.14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Cash &amp; Bank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Other Current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FINANCIAL ANALYSIS (3Y)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 · Financials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&amp; Profitability — Data Integrity Concern: Audited turnover scales from ~₹1,310L (FY2021) to ~₹4,633L (FY2025) with a near-doubling jump in FY2024; EBITDA margin surges from sub-14% to ~55% in FY2024–25, and ROE exceeds 375% — these ratios are implausible for a construction/contracting entity and suggest either significant other income, restatement, or data quality issues. GST TTM revenue of ~₹354L is ~13x lower than audited FY2025 turnover, a critical divergence requiring reconciliation with bank credits and GST 2A/2B.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Debt &amp; Liquidity: D:E is manageable at 1.15x (FY2025) with LT borrowings rising 61% YoY — open charges with HDFC and Cholamandalam noted. Current ratio 1.64x is above benchmark; however, cash ratio is near zero (0.07x vs. 0.35x benchmark) and creditor/inventory days show extreme volatility (-5,391 creditor days in FY2025), flagging possible data or accounting anomalies. Bank statement absent (CP) — financials cannot be independently verified.
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PROJECTIONS &amp; ESTIMATES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VI · Projections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Projection Waiver Applicable (SOP §XII): Deal size is ₹6 Lakhs, which is below the ₹100L threshold for OL/FL; formal projections may be waived. Provisional P&amp;L data has been provided for FY2024–FY2026; balance sheet fields are all zero — projections are P&amp;L-only and incomplete.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Credibility Assessment: Projected PAT growth FY2024→FY2025 is +52% (₹82L to ₹137L) — flagged AGGRESSIVE per SOP (&gt;50%); FY2025→FY2026 is +42%, which is elevated but below the &gt;100% hard flag. Projected turnover of ₹2,976L in FY2026 is ~8x the GST-derived TTM of ~₹354L — projections are not corroborated by GST data and must be validated against bank credits; management justification required before IC reliance.
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VII · Key Ratios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Ratios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58798"/>
                <a:gridCol w="1358798"/>
                <a:gridCol w="1358798"/>
                <a:gridCol w="1358798"/>
                <a:gridCol w="1358798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28.96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44.32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VII · Key Ratios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Liquidity Ratios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58798"/>
                <a:gridCol w="1358798"/>
                <a:gridCol w="1358798"/>
                <a:gridCol w="1358798"/>
                <a:gridCol w="1358798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 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 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47761112.00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53227618.00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82740287.00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VII · Key Ratios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Solvency Ratios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58798"/>
                <a:gridCol w="1358798"/>
                <a:gridCol w="1358798"/>
                <a:gridCol w="1358798"/>
                <a:gridCol w="1358798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Debt / Total Assets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Debt / EBITDA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Debt /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 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 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 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 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28.93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44.80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Debt /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 /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Liab / Net Worth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6.80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4.22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VII · Key Ratios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Profitability Ratios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58798"/>
                <a:gridCol w="1358798"/>
                <a:gridCol w="1358798"/>
                <a:gridCol w="1358798"/>
                <a:gridCol w="1358798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Margins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 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EBT Margins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 Margin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Margins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Fixed Assets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Assets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Capital Employed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Equity (%)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 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VII · Key Ratios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&amp; Turnover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58798"/>
                <a:gridCol w="1358798"/>
                <a:gridCol w="1358798"/>
                <a:gridCol w="1358798"/>
                <a:gridCol w="1358798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 Turnover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 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Employed Turnover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Conversion Cycle*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1468.15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-1123.86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3895.14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Payable Days*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-1644.11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1590.23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-5390.90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Receivables Days*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189.04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38.31 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60.66 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Assets Turnover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-365.00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428.06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-1556.42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Turnover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-1.00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-0.23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Receivables Turnover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 Turnover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VII · Key Ratios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Expense Ratios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58798"/>
                <a:gridCol w="1358798"/>
                <a:gridCol w="1358798"/>
                <a:gridCol w="1358798"/>
                <a:gridCol w="1358798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Employee Cost (% of Sales)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Cost (% of Sales)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Other Expenses (% of Sales)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Material Consumption (% of Sales)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VII · Key Ratios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R' Score Components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58798"/>
                <a:gridCol w="1358798"/>
                <a:gridCol w="1358798"/>
                <a:gridCol w="1358798"/>
                <a:gridCol w="1358798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R' Score (Composite)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/ Total Assets (×7)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/ Outside Liabilities (×1)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Earnings / Total Assets (×3)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Cushion / Total Assets (×6)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VII · Key Ratios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Ratios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58798"/>
                <a:gridCol w="1358798"/>
                <a:gridCol w="1358798"/>
                <a:gridCol w="1358798"/>
                <a:gridCol w="1358798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Invested Capital (ROIC)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Net Worth (RONW)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FINANCIAL RATIOS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VII · Key Ratios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Liquidity concern: Current ratio recovered to 1.64x in FY25 (at benchmark of 1.60x), but cash ratio remains critically low at 0.07x vs. 0.35x benchmark — near-zero cash buffer signals heavy reliance on receivables/working capital cycle; Quick ratio of 1.45x acceptable but borderline.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Leverage &amp; profitability anomaly: D/E at 1.15x is within the 1.20x threshold, but ROE/ROCE at 355%/371% in FY25 and R' Score of 10.43x are abnormally high — likely driven by a non-recurring income spike in FY24 that inflated PAT; DSCR shows 44.32x on historical data but projects 0.00x in FY26/FY27, flagging a data gap requiring analyst validation; interest coverage at 44.80x well exceeds the 4.00x threshold, supporting proposed rental serviceability at ₹6L deal quantum.
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FLOW STATEMENT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VIII · Cash Flow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statement absent — ROUTING RISK UNVERIFIABLE: No bank statement provided; average monthly credits vs. proposed rental coverage cannot be computed; GST TTM revenue of ₹3.53Cr annualised implies ~₹29.5L/month credits, which should comfortably cover proposed OL rentals, but this must be confirmed via 12-month bank statement — flagged as Condition Precedent.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contraction &amp; concentration signal: GST turnover declined 17.7% YoY (FY25: ₹4.29Cr → FY26: ₹3.53Cr TTM); top customer Indraprastha Gas Limited alone constitutes 62.2% of TTM revenue — single-counterparty dependency creates significant cash flow volatility; 24 late GST filings on record and two nil-turnover months (Jan-26, Apr-26) indicate irregular billing cycles inconsistent with the provisional P&amp;L growth trajectory.
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DILIGENCE EXCERPTS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IX · Due Diligence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GST vs. P&amp;L divergence — HIGH FLAG: Provisional FY25 turnover stated at ₹2,316L; GST-reported revenue for FY2024-25 is only ₹429L — a &gt;80% variance that cannot be explained by exemptions alone; analyst must reconcile with audited financials and obtain GSTR-9 annual return; ITC utilisation appears full (net tax near zero in most months), which is consistent but warrants cross-check against purchase register for circular transaction risk.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concentration &amp; MCA sector mismatch: MCA classifies AG Energy under 'Construction &amp; Contracting — Real Estate / Commercial Buildings', not Energy &amp; Utilities; actual GST transactions are with gas pipeline entities (IGL, DS Pipeline) — business activity description must be verified via site visit and updated filings; no CIBIL/CRIF data available and no triangulation data provided — bureau pull and bank reference checks are mandatory before IC presentation.
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X · Risks &amp; Mitigants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Assessment Matrix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52144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448056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A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Single-customer concentration — IGL at 62.2% of TTM 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IGL is a AAA-rated PSU with stable gas distribution mandate; verify c…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 sector classification mismatch — registered as real est…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Obtain updated business activity evidence; physical site visit and GS…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GST-reported turnover vs. provisional P&amp;L divergence exceed…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 via GSTR-9 annual return and audited financials; escalate t…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Abnormal ROE/ROCE spike in FY24-25 (375%/392%) — sustainabi…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auditor notes, Schedule of Other Income; management to provide…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ratio critically low at 0.07x vs. 0.35x benchmark — ne…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via bank statement; OL rental is ₹6L deal — small quantum red…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bank statement — monthly credit flow and EMI serviceabil…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bank statement (primary operating account) mandated as hard 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CIBIL/CRIF data for entity or promoters — credit history…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pull for entity (PAN: AARCA6129N) and both promoters mandatory…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late GST filings and nil-turnover months (Jan-26, Apr-26…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Obtain GST compliance certificate and confirm no outstanding demand n…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 REPORT &amp; EXEC RECOMMENDATION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XI · Visit Report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visit: Not provided — analyst to confirm; given MCA-registered address is a residential colony in East Delhi (Gharoli Dairy Colony, Mayur Vihar) while operations appear to be in Delhi/Tamil Nadu energy infrastructure sector, physical site visit is critical to validate operational presence and asset existence.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 checks: Banker reference (HDFC Bank, Chola — both carry open charges) — not provided; vendor/customer references not provided; management background on promoters Damodhar Akkineni and Vanajakshi Akkineni not provided — analyst to confirm via LinkedIn, industry references, and charge-holder NOC status before IC.
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1932920" cy="768096"/>
          </a:xfrm>
          <a:prstGeom prst="rect">
            <a:avLst/>
          </a:prstGeom>
          <a:solidFill>
            <a:srgbClr val="2B5738"/>
          </a:solidFill>
          <a:ln w="12700">
            <a:solidFill>
              <a:srgbClr val="2B57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768096"/>
            <a:ext cx="11932920" cy="27432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1440"/>
            <a:ext cx="9902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PRODUCT REQUIREMENTS &amp; EXEMPTIONS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" y="530352"/>
            <a:ext cx="9902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XII · Product Reqs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32904" y="91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Energy Private Limited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4864"/>
            <a:ext cx="1481328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6199632"/>
            <a:ext cx="2291486" cy="585216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LEASE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21254" y="6199632"/>
            <a:ext cx="2291486" cy="585216"/>
          </a:xfrm>
          <a:prstGeom prst="rect">
            <a:avLst/>
          </a:prstGeom>
          <a:solidFill>
            <a:srgbClr val="7A5910"/>
          </a:solidFill>
          <a:ln w="12700">
            <a:solidFill>
              <a:srgbClr val="7A59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1254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AMOUNT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766974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 Cr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76749" y="6199632"/>
            <a:ext cx="2291486" cy="585216"/>
          </a:xfrm>
          <a:prstGeom prst="rect">
            <a:avLst/>
          </a:prstGeom>
          <a:solidFill>
            <a:srgbClr val="1A4A5C"/>
          </a:solidFill>
          <a:ln w="12700">
            <a:solidFill>
              <a:srgbClr val="1A4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6749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122469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Months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32243" y="6199632"/>
            <a:ext cx="2291486" cy="585216"/>
          </a:xfrm>
          <a:prstGeom prst="rect">
            <a:avLst/>
          </a:prstGeom>
          <a:solidFill>
            <a:srgbClr val="1E5C2A"/>
          </a:solidFill>
          <a:ln w="12700">
            <a:solidFill>
              <a:srgbClr val="1E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32243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IRR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477963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787738" y="6199632"/>
            <a:ext cx="2291486" cy="585216"/>
          </a:xfrm>
          <a:prstGeom prst="rect">
            <a:avLst/>
          </a:prstGeom>
          <a:solidFill>
            <a:srgbClr val="2A2A5C"/>
          </a:solidFill>
          <a:ln w="12700">
            <a:solidFill>
              <a:srgbClr val="2A2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7738" y="6263640"/>
            <a:ext cx="22914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2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9833458" y="6473952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Utilities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" y="923544"/>
            <a:ext cx="11548872" cy="5202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Product: Operating Lease (OL) — SOP compliance: Deal amount ₹6L is below the ₹100L threshold; projection waiver applies per SOP §XII — no financial projections required for credit assessment; asset to be owned by RERL with rentals attracting GST; Proforma D1-D2 to be executed; NACH 10/15 mandate required; e-invoice to be raised post-payment confirmation; residual value and security deposit not provided — analyst to confirm and ensure SOP minimums are met before documentation.
</a:t>
            </a:r>
            <a:pPr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exceptions: None declared; however, absence of bank statement, CIBIL data, and the GST/P&amp;L divergence collectively represent underwriting data gaps that must be resolved prior to disbursement — these are not formal policy exceptions but are flagged as mandatory pre-disbursement CPs.
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 · Pre-Disbursement Requirements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Conditions Precedent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188720"/>
            <a:ext cx="11365992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of 12-month bank statements for all primary operating accounts — mandatory for cash flow verification and rental coverage assessment prior to disbursement.
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pull (CIBIL/CRIF) for AG Energy Private Limited (PAN: AARCA6129N) and both promoters (Damodhar Akkineni &amp; Vanajakshi Akkineni) — to be reviewed and cleared by credit team.
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of FY25 GST-reported turnover (₹429L) vs. provisional P&amp;L turnover (₹2,316L) — GSTR-9 annual return and audited financials to be submitted with analyst sign-off on variance.
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site visit report confirming operational premises, asset existence, and business activity consistent with energy/gas infrastructure operations — given registered address is residential.
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NOC / lien status from existing charge-holders (HDFC Bank Ltd. and Cholamandalam Investment and Finance Company Limited) on proposed collateral assets.
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06.  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of Indraprastha Gas Limited supply/service contract copy confirming tenure and revenue terms — to assess concentration risk and cash flow sustainability.
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9582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· Weaknesses · Opportunities · Threats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9582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Analysis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228600"/>
            <a:ext cx="1691640" cy="530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33856"/>
            <a:ext cx="5742432" cy="2660904"/>
          </a:xfrm>
          <a:prstGeom prst="rect">
            <a:avLst/>
          </a:prstGeom>
          <a:solidFill>
            <a:srgbClr val="F0FDF4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120700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9768" y="1527048"/>
            <a:ext cx="539496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interest coverage at 44.80x in FY25 and D/E at 1.15x within threshold — …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Established relationship with Indraprastha Gas Limited (PSU, AAA-rated) as prim…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growth of 16.22% and PAT growth of 18.22% in FY25 (audited) with declin…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81928" y="1133856"/>
            <a:ext cx="5742432" cy="2660904"/>
          </a:xfrm>
          <a:prstGeom prst="rect">
            <a:avLst/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7376" y="120700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37376" y="1527048"/>
            <a:ext cx="539496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ratio at 0.07x (benchmark 0.35x) and absence of bank statements signal nea…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 late GST filings and &gt;80% divergence between GST-reported and provisional P&amp;…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MCA classification under real estate construction misaligns with actual energy/…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3959352"/>
            <a:ext cx="5742432" cy="2660904"/>
          </a:xfrm>
          <a:prstGeom prst="rect">
            <a:avLst/>
          </a:prstGeom>
          <a:solidFill>
            <a:srgbClr val="EFF6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" y="403250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9768" y="4352544"/>
            <a:ext cx="539496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India's accelerating gas distribution network expansion (City Gas Distribution …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Proposed OL facility for machinery/equipment can enhance operational capacity a…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Declining interest expense trend (FY23–FY25) creates headroom to refinance exis…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81928" y="3959352"/>
            <a:ext cx="5742432" cy="2660904"/>
          </a:xfrm>
          <a:prstGeom prst="rect">
            <a:avLst/>
          </a:prstGeom>
          <a:solidFill>
            <a:srgbClr val="FFFBEB"/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37376" y="403250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37376" y="4352544"/>
            <a:ext cx="539496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Over-reliance on a single PSU customer (IGL at 62.2%) — any contract non-renewa…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Systemic GST compliance weakness and unresolved P&amp;L divergence expose the compa…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charges from two financial institutions (HDFC Bank, Chola) with undisclose…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C4A04A"/>
          </a:solidFill>
          <a:ln w="12700">
            <a:solidFill>
              <a:srgbClr val="C4A0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7076" y="822960"/>
            <a:ext cx="411480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560320"/>
            <a:ext cx="9445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AF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strictly confidential and prepared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AFAF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Investment Committee use only.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0" y="3456432"/>
            <a:ext cx="1218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 Energy Private Limited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0" y="633679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AF6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Rehbar Financial Services  ·  rehbar.co.in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Rehbar Financial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Committee Credit Appraisal Note</dc:title>
  <dc:subject>IC Appraisal Note — AG Energy Private Limited</dc:subject>
  <dc:creator>Rehbar Credit Terminal</dc:creator>
  <cp:lastModifiedBy>Rehbar Credit Terminal</cp:lastModifiedBy>
  <cp:revision>1</cp:revision>
  <dcterms:created xsi:type="dcterms:W3CDTF">2026-06-27T20:39:12Z</dcterms:created>
  <dcterms:modified xsi:type="dcterms:W3CDTF">2026-06-27T20:39:12Z</dcterms:modified>
</cp:coreProperties>
</file>